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4"/>
  </p:notesMasterIdLst>
  <p:sldIdLst>
    <p:sldId id="262" r:id="rId2"/>
    <p:sldId id="285" r:id="rId3"/>
    <p:sldId id="283" r:id="rId4"/>
    <p:sldId id="309" r:id="rId5"/>
    <p:sldId id="322" r:id="rId6"/>
    <p:sldId id="267" r:id="rId7"/>
    <p:sldId id="304" r:id="rId8"/>
    <p:sldId id="305" r:id="rId9"/>
    <p:sldId id="271" r:id="rId10"/>
    <p:sldId id="290" r:id="rId11"/>
    <p:sldId id="306" r:id="rId12"/>
    <p:sldId id="307" r:id="rId13"/>
    <p:sldId id="324" r:id="rId14"/>
    <p:sldId id="281" r:id="rId15"/>
    <p:sldId id="323" r:id="rId16"/>
    <p:sldId id="325" r:id="rId17"/>
    <p:sldId id="279" r:id="rId18"/>
    <p:sldId id="312" r:id="rId19"/>
    <p:sldId id="308" r:id="rId20"/>
    <p:sldId id="288" r:id="rId21"/>
    <p:sldId id="310" r:id="rId22"/>
    <p:sldId id="299" r:id="rId23"/>
    <p:sldId id="297" r:id="rId24"/>
    <p:sldId id="315" r:id="rId25"/>
    <p:sldId id="316" r:id="rId26"/>
    <p:sldId id="314" r:id="rId27"/>
    <p:sldId id="311" r:id="rId28"/>
    <p:sldId id="303" r:id="rId29"/>
    <p:sldId id="298" r:id="rId30"/>
    <p:sldId id="313" r:id="rId31"/>
    <p:sldId id="286" r:id="rId32"/>
    <p:sldId id="280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1B1B"/>
    <a:srgbClr val="E50909"/>
    <a:srgbClr val="D60808"/>
    <a:srgbClr val="921F00"/>
    <a:srgbClr val="701800"/>
    <a:srgbClr val="0E964F"/>
    <a:srgbClr val="4D0397"/>
    <a:srgbClr val="5603A9"/>
    <a:srgbClr val="6F04DA"/>
    <a:srgbClr val="00A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41" autoAdjust="0"/>
    <p:restoredTop sz="94660"/>
  </p:normalViewPr>
  <p:slideViewPr>
    <p:cSldViewPr snapToGrid="0">
      <p:cViewPr varScale="1">
        <p:scale>
          <a:sx n="91" d="100"/>
          <a:sy n="91" d="100"/>
        </p:scale>
        <p:origin x="408" y="6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7AD4F1-77D3-44E4-8377-F22263337CBB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altLang="zh-CN"/>
              <a:t>Образец текста</a:t>
            </a:r>
          </a:p>
          <a:p>
            <a:pPr lvl="1"/>
            <a:r>
              <a:rPr lang="ru-RU" altLang="zh-CN"/>
              <a:t>Второй уровень</a:t>
            </a:r>
          </a:p>
          <a:p>
            <a:pPr lvl="2"/>
            <a:r>
              <a:rPr lang="ru-RU" altLang="zh-CN"/>
              <a:t>Третий уровень</a:t>
            </a:r>
          </a:p>
          <a:p>
            <a:pPr lvl="3"/>
            <a:r>
              <a:rPr lang="ru-RU" altLang="zh-CN"/>
              <a:t>Четвертый уровень</a:t>
            </a:r>
          </a:p>
          <a:p>
            <a:pPr lvl="4"/>
            <a:r>
              <a:rPr lang="ru-RU" altLang="zh-CN"/>
              <a:t>Пятый уровень</a:t>
            </a:r>
            <a:endParaRPr lang="zh-CN" alt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528706-C68F-4835-BEAC-4DFF0C92EF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668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528706-C68F-4835-BEAC-4DFF0C92EF9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794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528706-C68F-4835-BEAC-4DFF0C92EF97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7512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528706-C68F-4835-BEAC-4DFF0C92EF97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768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81B52-1B7A-4FA8-BCDB-4CB2D28C06D4}" type="datetime1">
              <a:rPr lang="ru-RU" altLang="zh-CN" smtClean="0"/>
              <a:t>26.08.2026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754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DF976-430A-4156-B050-FCF27289FE07}" type="datetime1">
              <a:rPr lang="ru-RU" altLang="zh-CN" smtClean="0"/>
              <a:t>26.08.2026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201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3EAD2-8897-4004-954E-04242D683133}" type="datetime1">
              <a:rPr lang="ru-RU" altLang="zh-CN" smtClean="0"/>
              <a:t>26.08.2026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916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F8261-6B78-4A34-9AD0-CF223EF67218}" type="datetime1">
              <a:rPr lang="ru-RU" altLang="zh-CN" smtClean="0"/>
              <a:t>26.08.2026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430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967C8-4E51-4D23-9F1E-20080F887C48}" type="datetime1">
              <a:rPr lang="ru-RU" altLang="zh-CN" smtClean="0"/>
              <a:t>26.08.2026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518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92BD5-27C3-4549-8AAD-B4E050EA5555}" type="datetime1">
              <a:rPr lang="ru-RU" altLang="zh-CN" smtClean="0"/>
              <a:t>26.08.2026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4073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62A2C-5D6C-4366-BB91-411537E80C6C}" type="datetime1">
              <a:rPr lang="ru-RU" altLang="zh-CN" smtClean="0"/>
              <a:t>26.08.2026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1594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A0964-EB1E-43D7-A06C-AA681E577527}" type="datetime1">
              <a:rPr lang="ru-RU" altLang="zh-CN" smtClean="0"/>
              <a:t>26.08.2026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688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CCA5C-AB7A-4673-BD2D-374334339AE2}" type="datetime1">
              <a:rPr lang="ru-RU" altLang="zh-CN" smtClean="0"/>
              <a:t>26.08.2026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788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BDFDE-05D4-4BED-8EB3-85D0063DE4C2}" type="datetime1">
              <a:rPr lang="ru-RU" altLang="zh-CN" smtClean="0"/>
              <a:t>26.08.2026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824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59D7-611A-4AD3-97AA-26935528A4C9}" type="datetime1">
              <a:rPr lang="ru-RU" altLang="zh-CN" smtClean="0"/>
              <a:t>26.08.2026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7663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78F12-373C-4D10-87FA-12F816D02679}" type="datetime1">
              <a:rPr lang="ru-RU" altLang="zh-CN" smtClean="0"/>
              <a:t>26.08.2026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0833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hyperlink" Target="https://www.mathnet.ru/php/archive.phtml?wshow=paper&amp;jrnid=mm&amp;" TargetMode="Externa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28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5" Type="http://schemas.openxmlformats.org/officeDocument/2006/relationships/image" Target="../media/image29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"/>
          <a:stretch/>
        </p:blipFill>
        <p:spPr>
          <a:xfrm>
            <a:off x="0" y="0"/>
            <a:ext cx="12133074" cy="68580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4142" y="131316"/>
            <a:ext cx="2847291" cy="1894467"/>
          </a:xfrm>
          <a:prstGeom prst="rect">
            <a:avLst/>
          </a:prstGeom>
        </p:spPr>
      </p:pic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6237993"/>
              </p:ext>
            </p:extLst>
          </p:nvPr>
        </p:nvGraphicFramePr>
        <p:xfrm>
          <a:off x="10103850" y="440003"/>
          <a:ext cx="1145277" cy="502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4" imgW="3084412" imgH="1354813" progId="CorelDraw.Graphic.22">
                  <p:embed/>
                </p:oleObj>
              </mc:Choice>
              <mc:Fallback>
                <p:oleObj name="CorelDRAW" r:id="rId4" imgW="3084412" imgH="1354813" progId="CorelDraw.Graphic.22">
                  <p:embed/>
                  <p:pic>
                    <p:nvPicPr>
                      <p:cNvPr id="5" name="Объект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103850" y="440003"/>
                        <a:ext cx="1145277" cy="5027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Заголовок 1"/>
          <p:cNvSpPr txBox="1">
            <a:spLocks/>
          </p:cNvSpPr>
          <p:nvPr/>
        </p:nvSpPr>
        <p:spPr>
          <a:xfrm>
            <a:off x="3373925" y="1822670"/>
            <a:ext cx="8751586" cy="233169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altLang="ru-RU" sz="3200" b="1" dirty="0">
                <a:solidFill>
                  <a:srgbClr val="E509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РАЗВИТИЕ ИНФОРМАЦИОННОЙ СИСТЕМЫ ПОДДЕРЖКИ СОВРЕМЕННОГО ИНТЕРНЕТ-МАРКЕТИНГА НА ОСНОВЕ АВТОМАТИЧЕСКОГО РАСПОЗНАВАНИЯ ОБЛАСТЕЙ ИНТЕРЕСА НА РЕКЛАМНЫХ ИЗОБРАЖЕНИЯХ В ВИДЕОПОТОКЕ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3440414" y="5434780"/>
            <a:ext cx="7621125" cy="14157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Студент гр. ФТ-420008: Ветров М.А.</a:t>
            </a:r>
          </a:p>
          <a:p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 доц., к. ф-м. н: Кашин И.В.</a:t>
            </a:r>
          </a:p>
          <a:p>
            <a:endParaRPr lang="ru-RU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311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698A0-3865-8A7E-4B89-86DBB9DEF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2C4FC41F-2437-5073-74D8-13288811A5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4" name="Объект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F5C204-0A4A-151E-572A-CB908DD4A361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D34208B-BCE3-E74E-BFFC-BE880657BB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7B064AAC-ECC2-09F7-ED16-BE40A0490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104" y="-226810"/>
            <a:ext cx="10515600" cy="1325563"/>
          </a:xfrm>
        </p:spPr>
        <p:txBody>
          <a:bodyPr/>
          <a:lstStyle/>
          <a:p>
            <a:r>
              <a:rPr lang="ru-RU" dirty="0">
                <a:cs typeface="Times New Roman" panose="02020603050405020304" pitchFamily="18" charset="0"/>
              </a:rPr>
              <a:t>Актуальность и проблематика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4E825B9E-A24A-1AFD-9101-599D2A204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172"/>
            <a:ext cx="10896600" cy="662982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ru-RU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контекстного анализа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Высокие вычислительные требования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Актуальность: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открытых решений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Потенциал для информационного маркетинга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A88B558-EC67-9500-561C-32F62F36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z="3000" smtClean="0">
                <a:solidFill>
                  <a:schemeClr val="bg1">
                    <a:lumMod val="50000"/>
                  </a:schemeClr>
                </a:solidFill>
              </a:rPr>
              <a:t>2</a:t>
            </a:fld>
            <a:endParaRPr lang="ru-RU" sz="3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878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81C9B-BAFC-2F94-E260-9EAAA5D6B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5BFC14F0-553F-8A7C-0C83-B998EBE488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2BAF5221-2353-DA23-50A2-522D76028B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006E38C-5D75-D7C2-6E20-C37BFC41D698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1A6B4C5-B708-9E67-965E-FC3FDE648F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C7B0F710-C378-F2D8-783C-948E67596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5303"/>
            <a:ext cx="10515600" cy="663849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ru-RU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 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ru-RU" altLang="zh-CN" sz="3500" spc="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информационную систему автоматического распознавания областей интереса на рекламных изображениях в потоковом режиме.</a:t>
            </a:r>
            <a:endParaRPr lang="ru-RU" altLang="zh-C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ru-RU" altLang="zh-C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ru-RU" altLang="zh-C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провести литературно-аналитический обзор</a:t>
            </a:r>
            <a:r>
              <a:rPr lang="en-US" altLang="zh-C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altLang="zh-C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ru-RU" altLang="zh-C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разработать модели</a:t>
            </a:r>
            <a:r>
              <a:rPr lang="en-US" altLang="zh-C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altLang="zh-C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ru-RU" altLang="zh-C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спроектировать систему</a:t>
            </a:r>
            <a:r>
              <a:rPr lang="en-US" altLang="zh-C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altLang="zh-C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ru-RU" altLang="zh-C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реализовать предлагаемое решение.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Заголовок 5">
            <a:extLst>
              <a:ext uri="{FF2B5EF4-FFF2-40B4-BE49-F238E27FC236}">
                <a16:creationId xmlns:a16="http://schemas.microsoft.com/office/drawing/2014/main" id="{CA360C42-F9AC-4023-6761-B7B409B33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104" y="-202622"/>
            <a:ext cx="10515600" cy="1325563"/>
          </a:xfrm>
        </p:spPr>
        <p:txBody>
          <a:bodyPr/>
          <a:lstStyle/>
          <a:p>
            <a:r>
              <a:rPr lang="ru-RU" dirty="0">
                <a:cs typeface="Times New Roman" panose="02020603050405020304" pitchFamily="18" charset="0"/>
              </a:rPr>
              <a:t>Цель и задачи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0BD413D-E77A-A5E8-61CE-B07D05EBE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F9AC15E-FCD1-4167-800F-1DB8497ABFCE}" type="slidenum">
              <a:rPr lang="ru-RU" sz="3000" smtClean="0">
                <a:solidFill>
                  <a:schemeClr val="bg1">
                    <a:lumMod val="50000"/>
                  </a:schemeClr>
                </a:solidFill>
              </a:rPr>
              <a:t>3</a:t>
            </a:fld>
            <a:endParaRPr lang="ru-RU" sz="3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442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2DAC3-B421-D369-29EB-8BCB767C9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6EEF38A-9292-840D-5BDC-6CAF9FA78B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5BFC14F0-553F-8A7C-0C83-B998EBE488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3D09289-04C6-F7DF-051D-356BAE2008BF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7CFF25C-D910-1515-2EC1-567CD3011D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51D1C9A8-3EC2-6F5D-5A24-2F2EE5702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886" y="1220149"/>
            <a:ext cx="10515600" cy="505402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ru-RU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агентного метода И.В. Кашина для восстановления изображения с учётом контекста предыдущих кадров. Это позволяет алгоритмам машинного обучения непрерывно предсказывать области интереса, используя накопленную информацию для повышения точности анализа.</a:t>
            </a:r>
          </a:p>
        </p:txBody>
      </p:sp>
      <p:sp>
        <p:nvSpPr>
          <p:cNvPr id="10" name="Заголовок 5">
            <a:extLst>
              <a:ext uri="{FF2B5EF4-FFF2-40B4-BE49-F238E27FC236}">
                <a16:creationId xmlns:a16="http://schemas.microsoft.com/office/drawing/2014/main" id="{4A5AE20F-0CAF-E5ED-F73D-B0756B4A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104" y="-202622"/>
            <a:ext cx="10515600" cy="1325563"/>
          </a:xfrm>
        </p:spPr>
        <p:txBody>
          <a:bodyPr/>
          <a:lstStyle/>
          <a:p>
            <a:r>
              <a:rPr lang="ru-RU" altLang="zh-CN" dirty="0">
                <a:cs typeface="Times New Roman" panose="02020603050405020304" pitchFamily="18" charset="0"/>
              </a:rPr>
              <a:t>Научная новизна</a:t>
            </a:r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DADC37F-708B-230A-8151-7611D0F0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z="3000" smtClean="0">
                <a:solidFill>
                  <a:schemeClr val="bg1">
                    <a:lumMod val="50000"/>
                  </a:schemeClr>
                </a:solidFill>
              </a:rPr>
              <a:t>4</a:t>
            </a:fld>
            <a:endParaRPr lang="ru-RU" sz="3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2212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D0AC4-A2B8-5911-7CD1-399D5AC25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9438169-5BAE-2AFF-E149-997D4C1A26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C6EEF38A-9292-840D-5BDC-6CAF9FA78B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FB7D9A2-7528-F17E-10B9-FBDA47F65634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E0BCC7C-049E-A310-52CA-F5F67D4EED4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6F96E944-C0CB-D481-BA4D-7D40D8630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997" y="767421"/>
            <a:ext cx="11662263" cy="701063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ru-RU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данных айтрекинга и подготовка набора данных;</a:t>
            </a:r>
          </a:p>
          <a:p>
            <a:pPr algn="just">
              <a:lnSpc>
                <a:spcPct val="150000"/>
              </a:lnSpc>
            </a:pPr>
            <a:r>
              <a:rPr lang="ru-RU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библиотеки для предобработки изображений с применением агентного подхода для учёта контекста между кадрами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Построение модели машинного обучения для распознавания </a:t>
            </a:r>
            <a:r>
              <a:rPr lang="zh-CN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областей интереса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Объединение компонентов в единую систему, обеспечивающую автоматическое распознавание областей интереса на видеопоследовательности.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Заголовок 5">
            <a:extLst>
              <a:ext uri="{FF2B5EF4-FFF2-40B4-BE49-F238E27FC236}">
                <a16:creationId xmlns:a16="http://schemas.microsoft.com/office/drawing/2014/main" id="{F91DA763-A0F3-7067-0379-1B49138D0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104" y="-202622"/>
            <a:ext cx="10515600" cy="1325563"/>
          </a:xfrm>
        </p:spPr>
        <p:txBody>
          <a:bodyPr/>
          <a:lstStyle/>
          <a:p>
            <a:r>
              <a:rPr lang="ru-RU" altLang="zh-CN" dirty="0">
                <a:cs typeface="Times New Roman" panose="02020603050405020304" pitchFamily="18" charset="0"/>
              </a:rPr>
              <a:t>Основные этапы </a:t>
            </a:r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1D417E9-C4FE-05BA-3127-83FC0B6C6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z="3000" smtClean="0">
                <a:solidFill>
                  <a:schemeClr val="bg1">
                    <a:lumMod val="50000"/>
                  </a:schemeClr>
                </a:solidFill>
              </a:rPr>
              <a:t>5</a:t>
            </a:fld>
            <a:endParaRPr lang="ru-RU" sz="3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1869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BAFB2-D6C8-A161-DFE5-A854D69A7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BBB93D78-1BE0-8B81-80D8-92F38CD57C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4" name="Объект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E14EE30-8DBB-4728-3D42-F5CD80536EFB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AA74503-055B-6D12-E7C6-7E33A2F3DA1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5" name="Объект 4">
            <a:extLst>
              <a:ext uri="{FF2B5EF4-FFF2-40B4-BE49-F238E27FC236}">
                <a16:creationId xmlns:a16="http://schemas.microsoft.com/office/drawing/2014/main" id="{CC9A3CB8-BA8B-E1EA-24ED-BA1CAD404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75429"/>
            <a:ext cx="11353800" cy="5914800"/>
          </a:xfrm>
        </p:spPr>
        <p:txBody>
          <a:bodyPr>
            <a:noAutofit/>
          </a:bodyPr>
          <a:lstStyle/>
          <a:p>
            <a:pPr indent="449580"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Для решения задачи </a:t>
            </a:r>
            <a:r>
              <a:rPr lang="ru-RU" sz="30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айтрекинга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были выделены следующие критерии:</a:t>
            </a:r>
          </a:p>
          <a:p>
            <a:pPr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Т –</a:t>
            </a: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Точность</a:t>
            </a:r>
            <a:r>
              <a:rPr lang="en-US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endParaRPr lang="ru-RU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Н </a:t>
            </a: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Надёжность</a:t>
            </a:r>
            <a:r>
              <a:rPr lang="en-US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endParaRPr lang="en-US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Aft>
                <a:spcPts val="800"/>
              </a:spcAft>
              <a:buNone/>
            </a:pPr>
            <a:r>
              <a:rPr lang="en-US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СВ </a:t>
            </a: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– Скорость вывода</a:t>
            </a:r>
            <a:r>
              <a:rPr lang="en-US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endParaRPr lang="ru-RU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3) </a:t>
            </a: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ПИ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Простота интеграции</a:t>
            </a:r>
            <a:r>
              <a:rPr lang="en-US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4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 П </a:t>
            </a: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Производительность</a:t>
            </a:r>
            <a:r>
              <a:rPr lang="en-US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endParaRPr lang="ru-RU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5)  С </a:t>
            </a: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Стоимость/Доступность</a:t>
            </a:r>
            <a:r>
              <a:rPr lang="en-US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         В результате сравнения аналогов был выбран прототип </a:t>
            </a:r>
            <a:r>
              <a:rPr lang="en-US" sz="30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eyeGestures</a:t>
            </a: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Заголовок 5">
            <a:extLst>
              <a:ext uri="{FF2B5EF4-FFF2-40B4-BE49-F238E27FC236}">
                <a16:creationId xmlns:a16="http://schemas.microsoft.com/office/drawing/2014/main" id="{E8B29C5A-FB51-ADA3-04B3-768B908C4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104" y="-202622"/>
            <a:ext cx="10515600" cy="1325563"/>
          </a:xfrm>
        </p:spPr>
        <p:txBody>
          <a:bodyPr/>
          <a:lstStyle/>
          <a:p>
            <a:r>
              <a:rPr lang="ru-RU" dirty="0">
                <a:cs typeface="Times New Roman" panose="02020603050405020304" pitchFamily="18" charset="0"/>
              </a:rPr>
              <a:t>Критерии оценивания аналогов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4C3CD2-5DB5-4DAA-B082-4039AA41B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z="3000" smtClean="0">
                <a:solidFill>
                  <a:schemeClr val="bg1">
                    <a:lumMod val="50000"/>
                  </a:schemeClr>
                </a:solidFill>
              </a:rPr>
              <a:t>6</a:t>
            </a:fld>
            <a:endParaRPr lang="ru-RU" sz="3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0C9D177-2762-0BD2-01A6-B0043DEF7F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3282" y="1651313"/>
            <a:ext cx="6851207" cy="262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04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37ABB-62B9-C2E0-53A6-909FF806A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4ED799BA-8B1C-8C76-E36D-7FDBAD93C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487" y="1704730"/>
            <a:ext cx="7095025" cy="3483958"/>
          </a:xfrm>
          <a:prstGeom prst="rect">
            <a:avLst/>
          </a:prstGeom>
        </p:spPr>
      </p:pic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15195CA8-A336-088E-1732-E58F67411E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BBB93D78-1BE0-8B81-80D8-92F38CD57C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39B2156-99F1-A698-5D9C-6D86096E4C4E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8CC7210-0DCA-1EF0-1A7A-688F5446D5F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5" name="Объект 4">
            <a:extLst>
              <a:ext uri="{FF2B5EF4-FFF2-40B4-BE49-F238E27FC236}">
                <a16:creationId xmlns:a16="http://schemas.microsoft.com/office/drawing/2014/main" id="{5C5E5CC0-E953-D480-2D3B-3FB7B90CD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842695"/>
            <a:ext cx="12192001" cy="6068132"/>
          </a:xfrm>
        </p:spPr>
        <p:txBody>
          <a:bodyPr>
            <a:noAutofit/>
          </a:bodyPr>
          <a:lstStyle/>
          <a:p>
            <a:pPr indent="449580"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Для решения задачи агентного восстановления изображений с учетом контекста предыдущих кадров </a:t>
            </a: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были выделены следующие критерии:</a:t>
            </a:r>
            <a:endParaRPr lang="ru-RU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СНК </a:t>
            </a: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– 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Способность к </a:t>
            </a:r>
          </a:p>
          <a:p>
            <a:pPr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накоплению контекста</a:t>
            </a:r>
            <a:r>
              <a:rPr lang="en-US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endParaRPr lang="ru-RU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</a:t>
            </a:r>
            <a:r>
              <a:rPr lang="ru-RU" sz="30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</a:t>
            </a:r>
            <a:r>
              <a:rPr lang="ru-RU" sz="30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иС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Сходимость и </a:t>
            </a:r>
            <a:r>
              <a:rPr lang="ru-RU" altLang="zh-CN" sz="30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стаб</a:t>
            </a:r>
            <a:r>
              <a:rPr lang="en-US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ВЭ </a:t>
            </a: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– </a:t>
            </a:r>
            <a:r>
              <a:rPr lang="ru-RU" altLang="zh-CN" sz="3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Вычислительная</a:t>
            </a:r>
            <a:r>
              <a:rPr lang="en-US" altLang="zh-CN" sz="3000" dirty="0"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ru-RU" altLang="zh-CN" sz="3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эф.</a:t>
            </a:r>
            <a:endParaRPr lang="ru-RU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4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М </a:t>
            </a: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Масштабируемость</a:t>
            </a:r>
            <a:r>
              <a:rPr lang="en-US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endParaRPr lang="ru-RU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5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ИПС </a:t>
            </a: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Интерпретируемость промежуточных состояний</a:t>
            </a:r>
            <a:r>
              <a:rPr lang="en-US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         В результате сравнения аналогов был выбран прототип </a:t>
            </a:r>
            <a:r>
              <a:rPr lang="ru-RU" sz="30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агентный</a:t>
            </a: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подход И.В. Кашина</a:t>
            </a:r>
            <a:r>
              <a:rPr lang="en-US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ru-RU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Заголовок 5">
            <a:extLst>
              <a:ext uri="{FF2B5EF4-FFF2-40B4-BE49-F238E27FC236}">
                <a16:creationId xmlns:a16="http://schemas.microsoft.com/office/drawing/2014/main" id="{64823C64-369B-1E52-4DF1-4BC3C36B3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104" y="-202622"/>
            <a:ext cx="10515600" cy="1325563"/>
          </a:xfrm>
        </p:spPr>
        <p:txBody>
          <a:bodyPr/>
          <a:lstStyle/>
          <a:p>
            <a:r>
              <a:rPr lang="ru-RU" dirty="0">
                <a:cs typeface="Times New Roman" panose="02020603050405020304" pitchFamily="18" charset="0"/>
              </a:rPr>
              <a:t>Критерии оценивания аналогов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FED9D7-B282-46D8-0F71-78A725DA4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z="3000" smtClean="0">
                <a:solidFill>
                  <a:schemeClr val="bg1">
                    <a:lumMod val="50000"/>
                  </a:schemeClr>
                </a:solidFill>
              </a:rPr>
              <a:t>7</a:t>
            </a:fld>
            <a:endParaRPr lang="ru-RU" sz="3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995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B8E33-4901-C979-1D8B-A4406AD96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FE669ED9-542A-0DB2-3048-250A6729E4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15195CA8-A336-088E-1732-E58F67411E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BD0F447-ABC7-FD0F-14B6-EDA0868E0676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F9BC997-D9CA-4936-4623-C8BE73AE96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5" name="Объект 4">
            <a:extLst>
              <a:ext uri="{FF2B5EF4-FFF2-40B4-BE49-F238E27FC236}">
                <a16:creationId xmlns:a16="http://schemas.microsoft.com/office/drawing/2014/main" id="{B1145E32-F3E4-39E7-B87B-29D193A03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2941"/>
            <a:ext cx="12003314" cy="5312777"/>
          </a:xfrm>
        </p:spPr>
        <p:txBody>
          <a:bodyPr>
            <a:noAutofit/>
          </a:bodyPr>
          <a:lstStyle/>
          <a:p>
            <a:pPr indent="449580"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Для решения задачи </a:t>
            </a: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построения тепловой карты областей внимания пользователя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были выделены следующие критерии:</a:t>
            </a:r>
          </a:p>
          <a:p>
            <a:pPr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ТП – Точность предсказания</a:t>
            </a:r>
            <a:r>
              <a:rPr lang="en-US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endParaRPr lang="ru-RU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СО </a:t>
            </a: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Скорость обучения</a:t>
            </a:r>
            <a:r>
              <a:rPr lang="en-US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endParaRPr lang="ru-RU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СВ </a:t>
            </a: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– Скорость вывода</a:t>
            </a:r>
            <a:r>
              <a:rPr lang="en-US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endParaRPr lang="ru-RU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4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Ин </a:t>
            </a: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Интерпретируемость</a:t>
            </a:r>
            <a:r>
              <a:rPr lang="en-US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endParaRPr lang="ru-RU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5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</a:t>
            </a: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ВР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Вычислительные</a:t>
            </a:r>
            <a:r>
              <a:rPr lang="en-US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ресурсы</a:t>
            </a:r>
            <a:r>
              <a:rPr lang="en-US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         В результате сравнения аналогов был выбран прототип </a:t>
            </a:r>
            <a:r>
              <a:rPr lang="en-US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CNN.</a:t>
            </a: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ru-RU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Заголовок 5">
            <a:extLst>
              <a:ext uri="{FF2B5EF4-FFF2-40B4-BE49-F238E27FC236}">
                <a16:creationId xmlns:a16="http://schemas.microsoft.com/office/drawing/2014/main" id="{F9A4FC1B-7320-4865-09CB-0B738DAFE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104" y="-202622"/>
            <a:ext cx="10515600" cy="1325563"/>
          </a:xfrm>
        </p:spPr>
        <p:txBody>
          <a:bodyPr/>
          <a:lstStyle/>
          <a:p>
            <a:r>
              <a:rPr lang="ru-RU" dirty="0">
                <a:cs typeface="Times New Roman" panose="02020603050405020304" pitchFamily="18" charset="0"/>
              </a:rPr>
              <a:t>Критерии оценивания аналогов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3C47791-ECDD-2C0A-AD07-9A17D19F7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z="3000" smtClean="0">
                <a:solidFill>
                  <a:schemeClr val="bg1">
                    <a:lumMod val="50000"/>
                  </a:schemeClr>
                </a:solidFill>
              </a:rPr>
              <a:t>8</a:t>
            </a:fld>
            <a:endParaRPr lang="ru-RU" sz="3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97AEDDF-F5C9-7E4A-2CA4-A6EB42705E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8296" y="1950685"/>
            <a:ext cx="6582603" cy="266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854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D9184-3980-57A8-425E-8E12E88C1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EDA82D4-4864-0915-BFA7-F706F0835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994" y="913335"/>
            <a:ext cx="9528012" cy="3056937"/>
          </a:xfrm>
          <a:prstGeom prst="rect">
            <a:avLst/>
          </a:prstGeom>
        </p:spPr>
      </p:pic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DAD9DE42-1984-A01D-2ED9-37B011B9E7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4" imgW="2566457" imgH="894201" progId="CorelDraw.Graphic.22">
                  <p:embed/>
                </p:oleObj>
              </mc:Choice>
              <mc:Fallback>
                <p:oleObj name="CorelDRAW" r:id="rId4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D6048A9E-E821-6100-AC40-64F4BE85B3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664F3C-B4A1-BEA5-B9E4-0E8AAA109CCD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5A1BC92-26F7-538D-0E15-9F659C569C4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5" name="Объект 4">
            <a:extLst>
              <a:ext uri="{FF2B5EF4-FFF2-40B4-BE49-F238E27FC236}">
                <a16:creationId xmlns:a16="http://schemas.microsoft.com/office/drawing/2014/main" id="{B5724D1F-6E1A-ED89-C0B1-1852EA1CE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478" y="3882347"/>
            <a:ext cx="5672288" cy="4948006"/>
          </a:xfrm>
        </p:spPr>
        <p:txBody>
          <a:bodyPr>
            <a:noAutofit/>
          </a:bodyPr>
          <a:lstStyle/>
          <a:p>
            <a:pPr indent="449580"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 </a:t>
            </a: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система загрузки данных</a:t>
            </a:r>
            <a:r>
              <a:rPr lang="en-US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endParaRPr lang="ru-RU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49580"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 </a:t>
            </a: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система предобработки данных</a:t>
            </a:r>
            <a:r>
              <a:rPr lang="en-US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indent="449580">
              <a:lnSpc>
                <a:spcPts val="3000"/>
              </a:lnSpc>
              <a:spcAft>
                <a:spcPts val="800"/>
              </a:spcAft>
              <a:buNone/>
            </a:pP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 – </a:t>
            </a:r>
            <a:r>
              <a:rPr lang="en-US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система применения модели машинного обучения;</a:t>
            </a:r>
          </a:p>
          <a:p>
            <a:pPr indent="449580">
              <a:lnSpc>
                <a:spcPts val="3000"/>
              </a:lnSpc>
              <a:spcAft>
                <a:spcPts val="800"/>
              </a:spcAft>
              <a:buNone/>
            </a:pPr>
            <a:endParaRPr lang="ru-RU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Объект 4">
            <a:extLst>
              <a:ext uri="{FF2B5EF4-FFF2-40B4-BE49-F238E27FC236}">
                <a16:creationId xmlns:a16="http://schemas.microsoft.com/office/drawing/2014/main" id="{87E0A505-B75E-03B5-F00C-D37BDFC4A9BF}"/>
              </a:ext>
            </a:extLst>
          </p:cNvPr>
          <p:cNvSpPr txBox="1">
            <a:spLocks/>
          </p:cNvSpPr>
          <p:nvPr/>
        </p:nvSpPr>
        <p:spPr>
          <a:xfrm>
            <a:off x="6096000" y="3882347"/>
            <a:ext cx="5499993" cy="516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49580"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4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система визуализации внимания</a:t>
            </a: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endParaRPr lang="ru-RU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49580"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5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интерфейс пользователя</a:t>
            </a: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Заголовок 5">
            <a:extLst>
              <a:ext uri="{FF2B5EF4-FFF2-40B4-BE49-F238E27FC236}">
                <a16:creationId xmlns:a16="http://schemas.microsoft.com/office/drawing/2014/main" id="{F0D69401-7F26-8AC7-1160-69AEE1780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104" y="-202622"/>
            <a:ext cx="10515600" cy="1325563"/>
          </a:xfrm>
        </p:spPr>
        <p:txBody>
          <a:bodyPr/>
          <a:lstStyle/>
          <a:p>
            <a:r>
              <a:rPr lang="ru-RU" dirty="0">
                <a:cs typeface="Times New Roman" panose="02020603050405020304" pitchFamily="18" charset="0"/>
              </a:rPr>
              <a:t>Системно-структурная модель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CA67A7A-4B82-725D-F156-8497E4ED8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4143" y="6354043"/>
            <a:ext cx="2743200" cy="365125"/>
          </a:xfrm>
        </p:spPr>
        <p:txBody>
          <a:bodyPr/>
          <a:lstStyle/>
          <a:p>
            <a:fld id="{FF9AC15E-FCD1-4167-800F-1DB8497ABFCE}" type="slidenum">
              <a:rPr lang="ru-RU" sz="3000" smtClean="0">
                <a:solidFill>
                  <a:schemeClr val="bg1">
                    <a:lumMod val="50000"/>
                  </a:schemeClr>
                </a:solidFill>
              </a:rPr>
              <a:t>9</a:t>
            </a:fld>
            <a:endParaRPr lang="ru-RU" sz="3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0745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D3ED6-E6E0-98AE-CA20-D579F02E0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487E086-BE83-9D1F-9EC5-01257BA4A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308" y="1419946"/>
            <a:ext cx="8606100" cy="4525117"/>
          </a:xfrm>
          <a:prstGeom prst="rect">
            <a:avLst/>
          </a:prstGeom>
        </p:spPr>
      </p:pic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9156BD75-BB5E-1C34-06F6-8E6D7BA8B7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DAD9DE42-1984-A01D-2ED9-37B011B9E7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4C58E6E-D4A7-6FE1-1E93-367DD46C21B7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C484056-8765-D5DC-973C-9457081FD5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5" name="Объект 4">
            <a:extLst>
              <a:ext uri="{FF2B5EF4-FFF2-40B4-BE49-F238E27FC236}">
                <a16:creationId xmlns:a16="http://schemas.microsoft.com/office/drawing/2014/main" id="{FA91547C-789C-8431-B42D-A64152613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592" y="1075226"/>
            <a:ext cx="3785190" cy="5463686"/>
          </a:xfrm>
        </p:spPr>
        <p:txBody>
          <a:bodyPr>
            <a:noAutofit/>
          </a:bodyPr>
          <a:lstStyle/>
          <a:p>
            <a:pPr indent="449580"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2.1 </a:t>
            </a: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подсистема предобработки данных;</a:t>
            </a:r>
            <a:endParaRPr lang="ru-RU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49580"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2.2 </a:t>
            </a: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подсистема расчёта коэффициента</a:t>
            </a:r>
            <a:r>
              <a:rPr lang="en-US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привлекательности </a:t>
            </a:r>
            <a:r>
              <a:rPr lang="en-US" sz="30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Kp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endParaRPr lang="en-US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49580">
              <a:lnSpc>
                <a:spcPts val="3000"/>
              </a:lnSpc>
              <a:spcAft>
                <a:spcPts val="800"/>
              </a:spcAft>
              <a:buNone/>
            </a:pPr>
            <a:r>
              <a:rPr lang="ru-RU" altLang="zh-CN" sz="32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2.3 – подсистема перемещения агентов</a:t>
            </a:r>
            <a:r>
              <a:rPr lang="en-US" altLang="zh-CN" sz="32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Заголовок 5">
            <a:extLst>
              <a:ext uri="{FF2B5EF4-FFF2-40B4-BE49-F238E27FC236}">
                <a16:creationId xmlns:a16="http://schemas.microsoft.com/office/drawing/2014/main" id="{3AA92CAA-3D98-6C06-16D1-35B4D34EF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104" y="-202622"/>
            <a:ext cx="10515600" cy="1325563"/>
          </a:xfrm>
        </p:spPr>
        <p:txBody>
          <a:bodyPr/>
          <a:lstStyle/>
          <a:p>
            <a:r>
              <a:rPr lang="ru-RU" dirty="0">
                <a:cs typeface="Times New Roman" panose="02020603050405020304" pitchFamily="18" charset="0"/>
              </a:rPr>
              <a:t>Системно-структурная модель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B0FD60F-EBC8-45E5-1ECD-839818A5E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z="3000" smtClean="0"/>
              <a:t>10</a:t>
            </a:fld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3028712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F8A02-C04B-D949-DA99-3008A00AC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22F9B0D-6DA2-D23D-C462-E6E3F83D4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985" y="1724834"/>
            <a:ext cx="7570789" cy="4015125"/>
          </a:xfrm>
          <a:prstGeom prst="rect">
            <a:avLst/>
          </a:prstGeom>
        </p:spPr>
      </p:pic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874D082-D325-5A07-288D-244C2C2E3C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9156BD75-BB5E-1C34-06F6-8E6D7BA8B7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C919640-E981-8E66-84C8-24E50524C054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A84FCB3-46C6-E8CF-CB97-B9AACE39C3A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5" name="Объект 4">
            <a:extLst>
              <a:ext uri="{FF2B5EF4-FFF2-40B4-BE49-F238E27FC236}">
                <a16:creationId xmlns:a16="http://schemas.microsoft.com/office/drawing/2014/main" id="{5F3665C8-0D9F-0FC5-D430-D633FD118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00554"/>
            <a:ext cx="4799203" cy="5463686"/>
          </a:xfrm>
        </p:spPr>
        <p:txBody>
          <a:bodyPr>
            <a:noAutofit/>
          </a:bodyPr>
          <a:lstStyle/>
          <a:p>
            <a:pPr indent="449580"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.1 </a:t>
            </a: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подсистема извлечения иерархических признаков: </a:t>
            </a:r>
            <a:r>
              <a:rPr lang="en-US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encoder;</a:t>
            </a:r>
            <a:endParaRPr lang="ru-RU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49580"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.2 </a:t>
            </a: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подсистема многомасштабного анализа контекста</a:t>
            </a:r>
            <a:r>
              <a:rPr lang="en-US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ASPP-модул</a:t>
            </a: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ь;</a:t>
            </a:r>
            <a:endParaRPr lang="ru-RU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49580"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.3 </a:t>
            </a: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подсистема восстановления пространственного разрешения и формирования карты внимания: </a:t>
            </a:r>
            <a:r>
              <a:rPr lang="en-US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decoder</a:t>
            </a: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Заголовок 5">
            <a:extLst>
              <a:ext uri="{FF2B5EF4-FFF2-40B4-BE49-F238E27FC236}">
                <a16:creationId xmlns:a16="http://schemas.microsoft.com/office/drawing/2014/main" id="{5978BD3B-D4EF-3E5C-09AF-50538E00A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104" y="-202622"/>
            <a:ext cx="10515600" cy="1325563"/>
          </a:xfrm>
        </p:spPr>
        <p:txBody>
          <a:bodyPr/>
          <a:lstStyle/>
          <a:p>
            <a:r>
              <a:rPr lang="ru-RU" dirty="0">
                <a:cs typeface="Times New Roman" panose="02020603050405020304" pitchFamily="18" charset="0"/>
              </a:rPr>
              <a:t>Системно-структурная модель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87A17C-C6BE-A85A-45B3-B36EA729C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z="3000" smtClean="0"/>
              <a:t>11</a:t>
            </a:fld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4146655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885D3-8A20-1A19-1380-48B8C0B5D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16A90A7-574B-8685-C9CC-C12C13819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820" y="1374441"/>
            <a:ext cx="7745716" cy="4566417"/>
          </a:xfrm>
          <a:prstGeom prst="rect">
            <a:avLst/>
          </a:prstGeom>
        </p:spPr>
      </p:pic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0DFD6A70-5F88-87E8-35CD-42509CE49B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7874D082-D325-5A07-288D-244C2C2E3C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E8FB647-EB1E-7619-A048-782297A7BB33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5F14F33-9867-BC33-9C35-9A312ED82A3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5" name="Объект 4">
            <a:extLst>
              <a:ext uri="{FF2B5EF4-FFF2-40B4-BE49-F238E27FC236}">
                <a16:creationId xmlns:a16="http://schemas.microsoft.com/office/drawing/2014/main" id="{750B926D-83CB-8393-01BE-849E996AF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29721"/>
            <a:ext cx="4444409" cy="5326629"/>
          </a:xfrm>
        </p:spPr>
        <p:txBody>
          <a:bodyPr>
            <a:noAutofit/>
          </a:bodyPr>
          <a:lstStyle/>
          <a:p>
            <a:pPr indent="449580"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4.1 </a:t>
            </a: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подсистема преобразования предсказанной моделью карты областей внимания из оттенков серого в тепловую карту;</a:t>
            </a:r>
          </a:p>
          <a:p>
            <a:pPr indent="449580">
              <a:lnSpc>
                <a:spcPts val="3000"/>
              </a:lnSpc>
              <a:spcAft>
                <a:spcPts val="800"/>
              </a:spcAft>
              <a:buNone/>
            </a:pP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4.2 </a:t>
            </a:r>
            <a:r>
              <a:rPr lang="ru-RU" altLang="zh-C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</a:t>
            </a:r>
            <a:r>
              <a:rPr lang="ru-RU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подсистема наложения предсказанной тепловой карты поверх изображения.</a:t>
            </a:r>
          </a:p>
        </p:txBody>
      </p:sp>
      <p:sp>
        <p:nvSpPr>
          <p:cNvPr id="13" name="Заголовок 5">
            <a:extLst>
              <a:ext uri="{FF2B5EF4-FFF2-40B4-BE49-F238E27FC236}">
                <a16:creationId xmlns:a16="http://schemas.microsoft.com/office/drawing/2014/main" id="{F96D8065-F010-986E-3BCD-8BB4FF45B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104" y="-202622"/>
            <a:ext cx="10515600" cy="1325563"/>
          </a:xfrm>
        </p:spPr>
        <p:txBody>
          <a:bodyPr/>
          <a:lstStyle/>
          <a:p>
            <a:r>
              <a:rPr lang="ru-RU" dirty="0">
                <a:cs typeface="Times New Roman" panose="02020603050405020304" pitchFamily="18" charset="0"/>
              </a:rPr>
              <a:t>Системно-структурная модель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26BBF8-8EAB-230E-97F2-B9593500E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z="3000" smtClean="0"/>
              <a:t>12</a:t>
            </a:fld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1033820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20931-8FA9-B617-9E3B-B2E61506E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91DDBE0F-B94F-B6FA-3FEC-1B7BCB1460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2BAF5221-2353-DA23-50A2-522D76028B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8384B8A-3E05-AD52-B4B0-55CB3A8347AC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D8A3D60-8DBE-599A-E3C4-66FF61FF432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14" name="Заголовок 5">
            <a:extLst>
              <a:ext uri="{FF2B5EF4-FFF2-40B4-BE49-F238E27FC236}">
                <a16:creationId xmlns:a16="http://schemas.microsoft.com/office/drawing/2014/main" id="{B7E11B8F-3A02-5099-DEC0-A394C8268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104" y="-202622"/>
            <a:ext cx="10515600" cy="1325563"/>
          </a:xfrm>
        </p:spPr>
        <p:txBody>
          <a:bodyPr/>
          <a:lstStyle/>
          <a:p>
            <a:r>
              <a:rPr lang="ru-RU" dirty="0">
                <a:cs typeface="Times New Roman" panose="02020603050405020304" pitchFamily="18" charset="0"/>
              </a:rPr>
              <a:t>Математическая модель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80B05FC-C24C-E836-8466-52CE3EB76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z="3000" smtClean="0">
                <a:solidFill>
                  <a:schemeClr val="bg1">
                    <a:lumMod val="50000"/>
                  </a:schemeClr>
                </a:solidFill>
              </a:rPr>
              <a:t>13</a:t>
            </a:fld>
            <a:endParaRPr lang="ru-RU" sz="30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Объект 4">
                <a:extLst>
                  <a:ext uri="{FF2B5EF4-FFF2-40B4-BE49-F238E27FC236}">
                    <a16:creationId xmlns:a16="http://schemas.microsoft.com/office/drawing/2014/main" id="{BEFE7900-F153-8786-4CE2-72E340DF56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000554"/>
                <a:ext cx="12248704" cy="5463686"/>
              </a:xfrm>
            </p:spPr>
            <p:txBody>
              <a:bodyPr>
                <a:noAutofit/>
              </a:bodyPr>
              <a:lstStyle/>
              <a:p>
                <a:pPr indent="449580" algn="just">
                  <a:lnSpc>
                    <a:spcPct val="150000"/>
                  </a:lnSpc>
                  <a:spcAft>
                    <a:spcPts val="2000"/>
                  </a:spcAft>
                  <a:buNone/>
                </a:pPr>
                <a:r>
                  <a:rPr lang="en-US" altLang="zh-CN" sz="3000" kern="100" dirty="0">
                    <a:effectLst/>
                    <a:latin typeface="Times New Roman" panose="02020603050405020304" pitchFamily="18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1) </a:t>
                </a:r>
                <a:r>
                  <a:rPr lang="ru-RU" altLang="zh-CN" sz="3000" kern="100" dirty="0">
                    <a:effectLst/>
                    <a:latin typeface="Times New Roman" panose="02020603050405020304" pitchFamily="18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Переведем RGB-изображение </a:t>
                </a:r>
                <a:r>
                  <a:rPr lang="ru-RU" altLang="zh-CN" sz="3000" kern="100" dirty="0">
                    <a:latin typeface="Times New Roman" panose="02020603050405020304" pitchFamily="18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в полутоновое (1), </a:t>
                </a:r>
                <a:r>
                  <a:rPr lang="ru-RU" altLang="zh-CN" sz="3000" kern="100" dirty="0">
                    <a:effectLst/>
                    <a:latin typeface="Times New Roman" panose="02020603050405020304" pitchFamily="18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используя взвешенное суммирование каналов с учётом физиологии человеческого зрения</a:t>
                </a:r>
                <a:r>
                  <a:rPr lang="en-US" altLang="zh-CN" sz="3000" kern="100" dirty="0">
                    <a:effectLst/>
                    <a:latin typeface="Times New Roman" panose="02020603050405020304" pitchFamily="18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[1]</a:t>
                </a:r>
                <a:r>
                  <a:rPr lang="ru-RU" altLang="zh-CN" sz="3000" kern="100" dirty="0">
                    <a:effectLst/>
                    <a:latin typeface="Times New Roman" panose="02020603050405020304" pitchFamily="18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: </a:t>
                </a:r>
                <a:endParaRPr lang="ru-RU" altLang="zh-CN" sz="2000" i="1" kern="100" dirty="0">
                  <a:effectLst/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indent="449580">
                  <a:lnSpc>
                    <a:spcPct val="150000"/>
                  </a:lnSpc>
                  <a:spcBef>
                    <a:spcPts val="4000"/>
                  </a:spcBef>
                  <a:spcAft>
                    <a:spcPts val="2000"/>
                  </a:spcAft>
                  <a:buNone/>
                </a:pPr>
                <a14:m>
                  <m:oMathPara xmlns:m="http://schemas.openxmlformats.org/officeDocument/2006/math">
                    <m:oMath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zh-CN" altLang="en-US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/>
                          <m:e>
                            <m:sSub>
                              <m:sSubPr>
                                <m:ctrlPr>
                                  <a:rPr lang="zh-CN" altLang="en-US" sz="3200" i="0" kern="100">
                                    <a:effectLst/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sz="3200" i="0" kern="100">
                                    <a:effectLst/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sz="3200" i="0" kern="100">
                                    <a:effectLst/>
                                    <a:latin typeface="Times New Roman" panose="020206030504050203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  <m:t>gray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zh-CN" altLang="en-US" sz="3200" i="0" kern="100">
                                    <a:effectLst/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sz="3200" i="0" kern="100">
                                    <a:effectLst/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  <m:t>x</m:t>
                                </m:r>
                                <m:r>
                                  <a:rPr lang="en-US" altLang="zh-CN" sz="3200" i="0" kern="100">
                                    <a:effectLst/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zh-CN" altLang="en-US" sz="3200" i="0" kern="100">
                                    <a:effectLst/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  <m:t>y</m:t>
                                </m:r>
                              </m:e>
                            </m:d>
                            <m:r>
                              <a:rPr lang="en-US" altLang="zh-CN" sz="3200" i="0" kern="100">
                                <a:effectLst/>
                                <a:latin typeface="Cambria Math" panose="02040503050406030204" pitchFamily="18" charset="0"/>
                                <a:ea typeface="DengXian Light" panose="02010600030101010101" pitchFamily="2" charset="-122"/>
                                <a:cs typeface="Times New Roman" panose="02020603050405020304" pitchFamily="18" charset="0"/>
                              </a:rPr>
                              <m:t>=0.299⋅</m:t>
                            </m:r>
                            <m:r>
                              <m:rPr>
                                <m:sty m:val="p"/>
                              </m:rPr>
                              <a:rPr lang="zh-CN" altLang="en-US" sz="3200" i="0" kern="100">
                                <a:effectLst/>
                                <a:latin typeface="Cambria Math" panose="02040503050406030204" pitchFamily="18" charset="0"/>
                                <a:ea typeface="DengXian Light" panose="02010600030101010101" pitchFamily="2" charset="-122"/>
                                <a:cs typeface="Times New Roman" panose="02020603050405020304" pitchFamily="18" charset="0"/>
                              </a:rPr>
                              <m:t>R</m:t>
                            </m:r>
                            <m:d>
                              <m:dPr>
                                <m:ctrlPr>
                                  <a:rPr lang="zh-CN" altLang="en-US" sz="3200" i="0" kern="100">
                                    <a:effectLst/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sz="3200" i="0" kern="100">
                                    <a:effectLst/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  <m:t>x</m:t>
                                </m:r>
                                <m:r>
                                  <a:rPr lang="en-US" altLang="zh-CN" sz="3200" i="0" kern="100">
                                    <a:effectLst/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zh-CN" altLang="en-US" sz="3200" i="0" kern="100">
                                    <a:effectLst/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  <m:t>y</m:t>
                                </m:r>
                              </m:e>
                            </m:d>
                            <m:r>
                              <a:rPr lang="en-US" altLang="zh-CN" sz="3200" i="0" kern="100">
                                <a:effectLst/>
                                <a:latin typeface="Cambria Math" panose="02040503050406030204" pitchFamily="18" charset="0"/>
                                <a:ea typeface="DengXian Light" panose="02010600030101010101" pitchFamily="2" charset="-122"/>
                                <a:cs typeface="Times New Roman" panose="02020603050405020304" pitchFamily="18" charset="0"/>
                              </a:rPr>
                              <m:t>+0.587⋅</m:t>
                            </m:r>
                            <m:r>
                              <m:rPr>
                                <m:sty m:val="p"/>
                              </m:rPr>
                              <a:rPr lang="zh-CN" altLang="en-US" sz="3200" i="0" kern="100">
                                <a:effectLst/>
                                <a:latin typeface="Cambria Math" panose="02040503050406030204" pitchFamily="18" charset="0"/>
                                <a:ea typeface="DengXian Light" panose="02010600030101010101" pitchFamily="2" charset="-122"/>
                                <a:cs typeface="Times New Roman" panose="02020603050405020304" pitchFamily="18" charset="0"/>
                              </a:rPr>
                              <m:t>G</m:t>
                            </m:r>
                            <m:d>
                              <m:dPr>
                                <m:ctrlPr>
                                  <a:rPr lang="zh-CN" altLang="en-US" sz="3200" i="0" kern="100">
                                    <a:effectLst/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sz="3200" i="0" kern="100">
                                    <a:effectLst/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  <m:t>x</m:t>
                                </m:r>
                                <m:r>
                                  <a:rPr lang="en-US" altLang="zh-CN" sz="3200" i="0" kern="100">
                                    <a:effectLst/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zh-CN" altLang="en-US" sz="3200" i="0" kern="100">
                                    <a:effectLst/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  <m:t>y</m:t>
                                </m:r>
                              </m:e>
                            </m:d>
                            <m:r>
                              <a:rPr lang="en-US" altLang="zh-CN" sz="3200" i="0" kern="100">
                                <a:effectLst/>
                                <a:latin typeface="Cambria Math" panose="02040503050406030204" pitchFamily="18" charset="0"/>
                                <a:ea typeface="DengXian Light" panose="02010600030101010101" pitchFamily="2" charset="-122"/>
                                <a:cs typeface="Times New Roman" panose="02020603050405020304" pitchFamily="18" charset="0"/>
                              </a:rPr>
                              <m:t>+0.114⋅</m:t>
                            </m:r>
                            <m:r>
                              <m:rPr>
                                <m:sty m:val="p"/>
                              </m:rPr>
                              <a:rPr lang="zh-CN" altLang="en-US" sz="3200" i="0" kern="100">
                                <a:effectLst/>
                                <a:latin typeface="Cambria Math" panose="02040503050406030204" pitchFamily="18" charset="0"/>
                                <a:ea typeface="DengXian Light" panose="02010600030101010101" pitchFamily="2" charset="-122"/>
                                <a:cs typeface="Times New Roman" panose="02020603050405020304" pitchFamily="18" charset="0"/>
                              </a:rPr>
                              <m:t>B</m:t>
                            </m:r>
                            <m:d>
                              <m:dPr>
                                <m:ctrlPr>
                                  <a:rPr lang="zh-CN" altLang="en-US" sz="3200" i="0" kern="100">
                                    <a:effectLst/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sz="3200" i="0" kern="100">
                                    <a:effectLst/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  <m:t>x</m:t>
                                </m:r>
                                <m:r>
                                  <a:rPr lang="en-US" altLang="zh-CN" sz="3200" i="0" kern="100">
                                    <a:effectLst/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zh-CN" altLang="en-US" sz="3200" i="0" kern="100">
                                    <a:effectLst/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  <m:t>y</m:t>
                                </m:r>
                              </m:e>
                            </m:d>
                            <m:r>
                              <a:rPr lang="en-US" altLang="zh-CN" sz="3200" i="0" kern="100">
                                <a:effectLst/>
                                <a:latin typeface="Cambria Math" panose="02040503050406030204" pitchFamily="18" charset="0"/>
                                <a:ea typeface="DengXian Light" panose="02010600030101010101" pitchFamily="2" charset="-122"/>
                                <a:cs typeface="Times New Roman" panose="02020603050405020304" pitchFamily="18" charset="0"/>
                              </a:rPr>
                              <m:t>.</m:t>
                            </m:r>
                          </m:e>
                          <m:e/>
                          <m:e>
                            <m:r>
                              <m:rPr>
                                <m:nor/>
                              </m:rPr>
                              <a:rPr lang="en-US" altLang="zh-CN" sz="3200" i="0" kern="100">
                                <a:effectLst/>
                                <a:latin typeface="Times New Roman" panose="02020603050405020304" pitchFamily="18" charset="0"/>
                                <a:ea typeface="DengXian Light" panose="02010600030101010101" pitchFamily="2" charset="-122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ru-RU" altLang="zh-CN" sz="3200" b="0" i="0" kern="100" smtClean="0">
                                <a:effectLst/>
                                <a:latin typeface="Times New Roman" panose="02020603050405020304" pitchFamily="18" charset="0"/>
                                <a:ea typeface="DengXian Light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altLang="zh-CN" sz="3200" i="0" kern="100">
                                <a:effectLst/>
                                <a:latin typeface="Times New Roman" panose="02020603050405020304" pitchFamily="18" charset="0"/>
                                <a:ea typeface="DengXian Light" panose="02010600030101010101" pitchFamily="2" charset="-122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ru-RU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449580">
                  <a:lnSpc>
                    <a:spcPct val="150000"/>
                  </a:lnSpc>
                  <a:spcBef>
                    <a:spcPts val="0"/>
                  </a:spcBef>
                  <a:spcAft>
                    <a:spcPts val="2000"/>
                  </a:spcAft>
                  <a:buNone/>
                </a:pPr>
                <a:endParaRPr lang="ru-RU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449580">
                  <a:lnSpc>
                    <a:spcPct val="150000"/>
                  </a:lnSpc>
                  <a:spcBef>
                    <a:spcPts val="0"/>
                  </a:spcBef>
                  <a:spcAft>
                    <a:spcPts val="2000"/>
                  </a:spcAft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 </a:t>
                </a:r>
                <a:r>
                  <a:rPr lang="zh-C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ITU-R BT.601-7. Studio encoding parameters of digital television. – Geneva : ITU, 2011. – 34 p</a:t>
                </a:r>
                <a:endParaRPr lang="ru-RU" altLang="zh-CN" sz="3200" dirty="0"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indent="449580">
                  <a:lnSpc>
                    <a:spcPct val="150000"/>
                  </a:lnSpc>
                  <a:spcBef>
                    <a:spcPts val="0"/>
                  </a:spcBef>
                  <a:spcAft>
                    <a:spcPts val="2000"/>
                  </a:spcAft>
                  <a:buNone/>
                </a:pPr>
                <a:endParaRPr lang="ru-RU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Объект 4">
                <a:extLst>
                  <a:ext uri="{FF2B5EF4-FFF2-40B4-BE49-F238E27FC236}">
                    <a16:creationId xmlns:a16="http://schemas.microsoft.com/office/drawing/2014/main" id="{BEFE7900-F153-8786-4CE2-72E340DF56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000554"/>
                <a:ext cx="12248704" cy="5463686"/>
              </a:xfrm>
              <a:blipFill>
                <a:blip r:embed="rId5"/>
                <a:stretch>
                  <a:fillRect r="-1145" b="-40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5553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7A2DF-33E0-4ECC-E886-9C13BED43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2BAF5221-2353-DA23-50A2-522D76028B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4" name="Объект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02F7AFA-CB66-EB18-F17B-F658AA70C992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4673AD3-1237-7702-3AB2-63CD2C8EF4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14" name="Заголовок 5">
            <a:extLst>
              <a:ext uri="{FF2B5EF4-FFF2-40B4-BE49-F238E27FC236}">
                <a16:creationId xmlns:a16="http://schemas.microsoft.com/office/drawing/2014/main" id="{3312249D-3D96-4209-4686-38E4D43AB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104" y="-202622"/>
            <a:ext cx="10515600" cy="1325563"/>
          </a:xfrm>
        </p:spPr>
        <p:txBody>
          <a:bodyPr/>
          <a:lstStyle/>
          <a:p>
            <a:r>
              <a:rPr lang="ru-RU" dirty="0">
                <a:cs typeface="Times New Roman" panose="02020603050405020304" pitchFamily="18" charset="0"/>
              </a:rPr>
              <a:t>Математическая модель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0C8FDA3-EA73-485F-D531-2BEE08BAF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z="3000" smtClean="0">
                <a:solidFill>
                  <a:schemeClr val="bg1">
                    <a:lumMod val="50000"/>
                  </a:schemeClr>
                </a:solidFill>
              </a:rPr>
              <a:t>14</a:t>
            </a:fld>
            <a:endParaRPr lang="ru-RU" sz="30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Объект 4">
                <a:extLst>
                  <a:ext uri="{FF2B5EF4-FFF2-40B4-BE49-F238E27FC236}">
                    <a16:creationId xmlns:a16="http://schemas.microsoft.com/office/drawing/2014/main" id="{E36266F9-74B6-A0CE-D94B-3ED73C14EB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56704" y="20039"/>
                <a:ext cx="12248704" cy="6840285"/>
              </a:xfrm>
            </p:spPr>
            <p:txBody>
              <a:bodyPr>
                <a:noAutofit/>
              </a:bodyPr>
              <a:lstStyle/>
              <a:p>
                <a:pPr indent="449580">
                  <a:lnSpc>
                    <a:spcPct val="150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ru-RU" altLang="zh-CN" sz="2000" i="1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228600" marR="0" lvl="0" indent="44958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altLang="zh-CN" sz="3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2) </a:t>
                </a:r>
                <a:r>
                  <a:rPr kumimoji="0" lang="ru-RU" altLang="zh-CN" sz="3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Разобьем изображение на ячейки размером </a:t>
                </a:r>
                <a:r>
                  <a:rPr kumimoji="0" lang="ru-RU" altLang="zh-CN" sz="3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c×c</a:t>
                </a:r>
                <a:r>
                  <a:rPr kumimoji="0" lang="ru-RU" altLang="zh-CN" sz="3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пикселей. Для каждой ячейки с координатами (i, j) вычислим среднее арифметическое яркостей всех пикселей, попадающих в её область (2):</a:t>
                </a:r>
                <a:endParaRPr lang="ru-RU" altLang="zh-CN" sz="3000" i="1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228600" marR="0" lvl="0" indent="44958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zh-CN" altLang="en-US" sz="3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/>
                          <m:e>
                            <m:sSub>
                              <m:sSubPr>
                                <m:ctrlPr>
                                  <a:rPr lang="zh-CN" altLang="en-US" sz="30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zh-CN" altLang="en-US" sz="3000" i="1" kern="100">
                                        <a:latin typeface="Cambria Math" panose="02040503050406030204" pitchFamily="18" charset="0"/>
                                        <a:ea typeface="DengXian Light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altLang="en-US" sz="3000" i="1" kern="100">
                                        <a:latin typeface="Cambria Math" panose="02040503050406030204" pitchFamily="18" charset="0"/>
                                        <a:ea typeface="DengXian Light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𝜌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sz="3000" i="1" kern="100">
                                    <a:latin typeface="Times New Roman" panose="020206030504050203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  <m:t>raw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zh-CN" altLang="en-US" sz="3000" i="1" kern="100"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3000" i="1" kern="100"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CN" sz="3000" i="1" kern="100"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zh-CN" altLang="en-US" sz="3000" i="1" kern="100"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altLang="zh-CN" sz="3000" i="1" kern="100">
                                <a:latin typeface="Cambria Math" panose="02040503050406030204" pitchFamily="18" charset="0"/>
                                <a:ea typeface="DengXian Light" panose="02010600030101010101" pitchFamily="2" charset="-122"/>
                                <a:cs typeface="Times New Roman" panose="020206030504050203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CN" sz="3000" i="1" kern="100"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i="1" kern="100"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zh-CN" altLang="en-US" sz="3000" i="1" kern="100">
                                        <a:latin typeface="Cambria Math" panose="02040503050406030204" pitchFamily="18" charset="0"/>
                                        <a:ea typeface="DengXian Light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3000" i="1" kern="100">
                                        <a:latin typeface="Cambria Math" panose="02040503050406030204" pitchFamily="18" charset="0"/>
                                        <a:ea typeface="DengXian Light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US" altLang="zh-CN" sz="3000" i="1" kern="100">
                                        <a:latin typeface="Cambria Math" panose="02040503050406030204" pitchFamily="18" charset="0"/>
                                        <a:ea typeface="DengXian Light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zh-CN" altLang="en-US" sz="3000" i="1" kern="100"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zh-CN" altLang="en-US" sz="3000" i="1" kern="100"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altLang="zh-CN" sz="3000" i="1" kern="100"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zh-CN" altLang="en-US" sz="3000" i="1" kern="100"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zh-CN" altLang="en-US" sz="3000" i="1" kern="100"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a:rPr lang="zh-CN" altLang="en-US" sz="3000" i="1" kern="100"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zh-CN" altLang="en-US" sz="3000" i="1" kern="100">
                                        <a:latin typeface="Cambria Math" panose="02040503050406030204" pitchFamily="18" charset="0"/>
                                        <a:ea typeface="DengXian Light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3000" i="1" kern="100">
                                        <a:latin typeface="Cambria Math" panose="02040503050406030204" pitchFamily="18" charset="0"/>
                                        <a:ea typeface="DengXian Light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sz="3000" i="1" kern="100">
                                        <a:latin typeface="Cambria Math" panose="02040503050406030204" pitchFamily="18" charset="0"/>
                                        <a:ea typeface="DengXian Light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  <m:r>
                                  <a:rPr lang="zh-CN" altLang="en-US" sz="3000" i="1" kern="100"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  <m:r>
                                  <a:rPr lang="zh-CN" altLang="en-US" sz="3000" i="1" kern="100"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p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zh-CN" altLang="en-US" sz="3000" i="1" kern="100">
                                        <a:latin typeface="Cambria Math" panose="02040503050406030204" pitchFamily="18" charset="0"/>
                                        <a:ea typeface="DengXian Light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altLang="en-US" sz="3000" i="1" kern="100">
                                        <a:latin typeface="Cambria Math" panose="02040503050406030204" pitchFamily="18" charset="0"/>
                                        <a:ea typeface="DengXian Light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  <m:r>
                                      <a:rPr lang="en-US" altLang="zh-CN" sz="3000" i="1" kern="100">
                                        <a:latin typeface="Cambria Math" panose="02040503050406030204" pitchFamily="18" charset="0"/>
                                        <a:ea typeface="DengXian Light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=</m:t>
                                    </m:r>
                                    <m:r>
                                      <a:rPr lang="zh-CN" altLang="en-US" sz="3000" i="1" kern="100">
                                        <a:latin typeface="Cambria Math" panose="02040503050406030204" pitchFamily="18" charset="0"/>
                                        <a:ea typeface="DengXian Light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r>
                                      <a:rPr lang="zh-CN" altLang="en-US" sz="3000" i="1" kern="100">
                                        <a:latin typeface="Cambria Math" panose="02040503050406030204" pitchFamily="18" charset="0"/>
                                        <a:ea typeface="DengXian Light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⋅</m:t>
                                    </m:r>
                                    <m:r>
                                      <a:rPr lang="zh-CN" altLang="en-US" sz="3000" i="1" kern="100">
                                        <a:latin typeface="Cambria Math" panose="02040503050406030204" pitchFamily="18" charset="0"/>
                                        <a:ea typeface="DengXian Light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𝑐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zh-CN" altLang="en-US" sz="3000" i="1" kern="100">
                                            <a:latin typeface="Cambria Math" panose="02040503050406030204" pitchFamily="18" charset="0"/>
                                            <a:ea typeface="DengXian Light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 sz="3000" i="1" kern="100">
                                            <a:latin typeface="Cambria Math" panose="02040503050406030204" pitchFamily="18" charset="0"/>
                                            <a:ea typeface="DengXian Light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zh-CN" sz="3000" i="1" kern="100">
                                            <a:latin typeface="Cambria Math" panose="02040503050406030204" pitchFamily="18" charset="0"/>
                                            <a:ea typeface="DengXian Light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+1</m:t>
                                        </m:r>
                                      </m:e>
                                    </m:d>
                                    <m:r>
                                      <a:rPr lang="zh-CN" altLang="en-US" sz="3000" i="1" kern="100">
                                        <a:latin typeface="Cambria Math" panose="02040503050406030204" pitchFamily="18" charset="0"/>
                                        <a:ea typeface="DengXian Light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𝑐</m:t>
                                    </m:r>
                                    <m:r>
                                      <a:rPr lang="zh-CN" altLang="en-US" sz="3000" i="1" kern="100">
                                        <a:latin typeface="Cambria Math" panose="02040503050406030204" pitchFamily="18" charset="0"/>
                                        <a:ea typeface="DengXian Light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zh-CN" altLang="en-US" sz="3000" i="1" kern="100">
                                            <a:latin typeface="Cambria Math" panose="02040503050406030204" pitchFamily="18" charset="0"/>
                                            <a:ea typeface="DengXian Light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3000" i="1" kern="100">
                                            <a:latin typeface="Cambria Math" panose="02040503050406030204" pitchFamily="18" charset="0"/>
                                            <a:ea typeface="DengXian Light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altLang="zh-CN" sz="3000" i="1" kern="100">
                                            <a:latin typeface="Times New Roman" panose="02020603050405020304" pitchFamily="18" charset="0"/>
                                            <a:ea typeface="DengXian Light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gray</m:t>
                                        </m:r>
                                      </m:sub>
                                    </m:sSub>
                                  </m:e>
                                </m:nary>
                                <m:d>
                                  <m:dPr>
                                    <m:ctrlPr>
                                      <a:rPr lang="zh-CN" altLang="en-US" sz="3000" i="1" kern="100">
                                        <a:latin typeface="Cambria Math" panose="02040503050406030204" pitchFamily="18" charset="0"/>
                                        <a:ea typeface="DengXian Light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3000" i="1" kern="100">
                                        <a:latin typeface="Cambria Math" panose="02040503050406030204" pitchFamily="18" charset="0"/>
                                        <a:ea typeface="DengXian Light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zh-CN" sz="3000" i="1" kern="100">
                                        <a:latin typeface="Cambria Math" panose="02040503050406030204" pitchFamily="18" charset="0"/>
                                        <a:ea typeface="DengXian Light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r>
                                      <a:rPr lang="zh-CN" altLang="en-US" sz="3000" i="1" kern="100">
                                        <a:latin typeface="Cambria Math" panose="02040503050406030204" pitchFamily="18" charset="0"/>
                                        <a:ea typeface="DengXian Light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e>
                            </m:nary>
                            <m:r>
                              <a:rPr lang="en-US" altLang="zh-CN" sz="3000" i="1" kern="100">
                                <a:latin typeface="Cambria Math" panose="02040503050406030204" pitchFamily="18" charset="0"/>
                                <a:ea typeface="DengXian Light" panose="02010600030101010101" pitchFamily="2" charset="-122"/>
                                <a:cs typeface="Times New Roman" panose="02020603050405020304" pitchFamily="18" charset="0"/>
                              </a:rPr>
                              <m:t>.</m:t>
                            </m:r>
                          </m:e>
                          <m:e/>
                          <m:e>
                            <m:r>
                              <m:rPr>
                                <m:nor/>
                              </m:rPr>
                              <a:rPr lang="en-US" altLang="zh-CN" sz="3000" i="1" kern="100">
                                <a:latin typeface="Times New Roman" panose="02020603050405020304" pitchFamily="18" charset="0"/>
                                <a:ea typeface="DengXian Light" panose="02010600030101010101" pitchFamily="2" charset="-122"/>
                                <a:cs typeface="Times New Roman" panose="02020603050405020304" pitchFamily="18" charset="0"/>
                              </a:rPr>
                              <m:t>(2)</m:t>
                            </m:r>
                          </m:e>
                        </m:mr>
                      </m:m>
                      <m:r>
                        <a:rPr lang="en-US" altLang="zh-CN" sz="3000" i="1" kern="100">
                          <a:latin typeface="Cambria Math" panose="02040503050406030204" pitchFamily="18" charset="0"/>
                          <a:ea typeface="DengXian Light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ru-RU" altLang="zh-CN" sz="3000" kern="100" dirty="0">
                  <a:latin typeface="Times New Roman" panose="02020603050405020304" pitchFamily="18" charset="0"/>
                  <a:ea typeface="DengXian Light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44958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zh-CN" sz="3000" kern="100" dirty="0">
                    <a:latin typeface="Times New Roman" panose="02020603050405020304" pitchFamily="18" charset="0"/>
                    <a:ea typeface="DengXian Light" panose="02010600030101010101" pitchFamily="2" charset="-122"/>
                  </a:rPr>
                  <a:t>3</a:t>
                </a:r>
                <a:r>
                  <a:rPr lang="en-US" altLang="zh-CN" sz="3000" kern="100" dirty="0">
                    <a:effectLst/>
                    <a:latin typeface="Times New Roman" panose="02020603050405020304" pitchFamily="18" charset="0"/>
                    <a:ea typeface="DengXian Light" panose="02010600030101010101" pitchFamily="2" charset="-122"/>
                  </a:rPr>
                  <a:t>) </a:t>
                </a:r>
                <a:r>
                  <a:rPr lang="ru-RU" altLang="zh-CN" sz="3000" kern="100" dirty="0">
                    <a:effectLst/>
                    <a:latin typeface="Times New Roman" panose="02020603050405020304" pitchFamily="18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матрица нормализуется к диапазону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en-US" altLang="zh-CN" sz="3000" i="1" kern="100">
                            <a:effectLst/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3000" i="1" kern="100">
                            <a:effectLst/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  <m:e>
                        <m:r>
                          <a:rPr lang="en-US" altLang="zh-CN" sz="3000" i="1" kern="100">
                            <a:effectLst/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255</m:t>
                        </m:r>
                      </m:e>
                    </m:d>
                  </m:oMath>
                </a14:m>
                <a:r>
                  <a:rPr lang="ru-RU" altLang="zh-CN" sz="3000" kern="100" dirty="0">
                    <a:effectLst/>
                    <a:latin typeface="Times New Roman" panose="02020603050405020304" pitchFamily="18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 путём деления на максимальное значение</a:t>
                </a:r>
                <a:r>
                  <a:rPr lang="en-US" altLang="zh-CN" sz="3000" kern="100" dirty="0">
                    <a:latin typeface="Times New Roman" panose="02020603050405020304" pitchFamily="18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ru-RU" altLang="zh-CN" sz="3000" kern="100" dirty="0">
                    <a:latin typeface="Times New Roman" panose="02020603050405020304" pitchFamily="18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с координатами </a:t>
                </a:r>
                <a:r>
                  <a:rPr lang="ru-RU" altLang="zh-CN" sz="3000" i="1" kern="100" dirty="0">
                    <a:latin typeface="Times New Roman" panose="02020603050405020304" pitchFamily="18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000" i="1" kern="100" dirty="0">
                    <a:latin typeface="Times New Roman" panose="02020603050405020304" pitchFamily="18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p, q)</a:t>
                </a:r>
                <a:r>
                  <a:rPr lang="ru-RU" altLang="zh-CN" sz="3000" i="1" kern="100" dirty="0">
                    <a:effectLst/>
                    <a:latin typeface="Times New Roman" panose="02020603050405020304" pitchFamily="18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ru-RU" altLang="zh-CN" sz="3000" kern="100" dirty="0">
                    <a:effectLst/>
                    <a:latin typeface="Times New Roman" panose="02020603050405020304" pitchFamily="18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и умнож</a:t>
                </a:r>
                <a:r>
                  <a:rPr lang="ru-RU" altLang="zh-CN" sz="3000" kern="100" dirty="0">
                    <a:latin typeface="Times New Roman" panose="02020603050405020304" pitchFamily="18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аетс</a:t>
                </a:r>
                <a:r>
                  <a:rPr lang="ru-RU" altLang="zh-CN" sz="3000" kern="100" dirty="0">
                    <a:effectLst/>
                    <a:latin typeface="Times New Roman" panose="02020603050405020304" pitchFamily="18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я 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100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100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3000" i="1" kern="100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altLang="zh-CN" sz="3000" i="1" kern="100" smtClean="0">
                        <a:latin typeface="Cambria Math" panose="02040503050406030204" pitchFamily="18" charset="0"/>
                        <a:ea typeface="DengXian Light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3000" b="0" i="1" kern="100" smtClean="0">
                        <a:latin typeface="Cambria Math" panose="02040503050406030204" pitchFamily="18" charset="0"/>
                        <a:ea typeface="DengXian Light" panose="02010600030101010101" pitchFamily="2" charset="-122"/>
                        <a:cs typeface="Times New Roman" panose="02020603050405020304" pitchFamily="18" charset="0"/>
                      </a:rPr>
                      <m:t>= </m:t>
                    </m:r>
                  </m:oMath>
                </a14:m>
                <a:r>
                  <a:rPr lang="ru-RU" altLang="zh-CN" sz="3000" kern="100" dirty="0">
                    <a:effectLst/>
                    <a:latin typeface="Times New Roman" panose="02020603050405020304" pitchFamily="18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255 (</a:t>
                </a:r>
                <a:r>
                  <a:rPr lang="en-US" altLang="zh-CN" sz="3000" kern="100" dirty="0">
                    <a:latin typeface="Times New Roman" panose="02020603050405020304" pitchFamily="18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ru-RU" altLang="zh-CN" sz="3000" kern="100" dirty="0">
                    <a:effectLst/>
                    <a:latin typeface="Times New Roman" panose="02020603050405020304" pitchFamily="18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): </a:t>
                </a:r>
                <a:endParaRPr lang="ru-RU" altLang="zh-CN" sz="3000" i="1" kern="1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indent="449580" algn="just">
                  <a:lnSpc>
                    <a:spcPts val="3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zh-CN" altLang="en-US" sz="3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/>
                          <m:e>
                            <m:acc>
                              <m:accPr>
                                <m:chr m:val="̃"/>
                                <m:ctrlPr>
                                  <a:rPr lang="zh-CN" altLang="en-US" sz="3000" i="1" kern="100">
                                    <a:effectLst/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3000" i="1" kern="100">
                                    <a:effectLst/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𝜌</m:t>
                                </m:r>
                              </m:e>
                            </m:acc>
                            <m:r>
                              <a:rPr lang="en-US" altLang="zh-CN" sz="3000" i="1" kern="100">
                                <a:effectLst/>
                                <a:latin typeface="Cambria Math" panose="02040503050406030204" pitchFamily="18" charset="0"/>
                                <a:ea typeface="DengXian Light" panose="02010600030101010101" pitchFamily="2" charset="-122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zh-CN" altLang="en-US" sz="3000" i="1" kern="100">
                                <a:effectLst/>
                                <a:latin typeface="Cambria Math" panose="02040503050406030204" pitchFamily="18" charset="0"/>
                                <a:ea typeface="DengXian Light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zh-CN" sz="3000" i="1" kern="100">
                                <a:effectLst/>
                                <a:latin typeface="Cambria Math" panose="02040503050406030204" pitchFamily="18" charset="0"/>
                                <a:ea typeface="DengXian Light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zh-CN" altLang="en-US" sz="3000" i="1" kern="100">
                                <a:effectLst/>
                                <a:latin typeface="Cambria Math" panose="02040503050406030204" pitchFamily="18" charset="0"/>
                                <a:ea typeface="DengXian Light" panose="02010600030101010101" pitchFamily="2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en-US" altLang="zh-CN" sz="3000" i="1" kern="100">
                                    <a:effectLst/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 kern="100">
                                    <a:effectLst/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sz="3000" i="0" kern="100">
                                    <a:effectLst/>
                                    <a:latin typeface="Times New Roman" panose="02020603050405020304" pitchFamily="18" charset="0"/>
                                    <a:ea typeface="DengXian Light" panose="02010600030101010101" pitchFamily="2" charset="-122"/>
                                  </a:rPr>
                                  <m:t>norm</m:t>
                                </m:r>
                              </m:sub>
                            </m:sSub>
                            <m:r>
                              <a:rPr lang="en-US" altLang="zh-CN" sz="3000" i="1" kern="100">
                                <a:effectLst/>
                                <a:latin typeface="Cambria Math" panose="02040503050406030204" pitchFamily="18" charset="0"/>
                                <a:ea typeface="DengXian Light" panose="02010600030101010101" pitchFamily="2" charset="-122"/>
                                <a:cs typeface="Times New Roman" panose="020206030504050203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zh-CN" altLang="en-US" sz="30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zh-CN" altLang="en-US" sz="3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zh-CN" altLang="en-US" sz="3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DengXian Light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3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DengXian Light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𝜌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CN" sz="3000" i="0" kern="100">
                                        <a:effectLst/>
                                        <a:latin typeface="Times New Roman" panose="02020603050405020304" pitchFamily="18" charset="0"/>
                                        <a:ea typeface="DengXian Light" panose="02010600030101010101" pitchFamily="2" charset="-122"/>
                                      </a:rPr>
                                      <m:t>raw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zh-CN" altLang="en-US" sz="3000" i="1" kern="100">
                                        <a:effectLst/>
                                        <a:latin typeface="Cambria Math" panose="02040503050406030204" pitchFamily="18" charset="0"/>
                                        <a:ea typeface="DengXian Light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3000" i="1" kern="100">
                                        <a:effectLst/>
                                        <a:latin typeface="Cambria Math" panose="02040503050406030204" pitchFamily="18" charset="0"/>
                                        <a:ea typeface="DengXian Light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sz="3000" i="1" kern="100">
                                        <a:effectLst/>
                                        <a:latin typeface="Cambria Math" panose="02040503050406030204" pitchFamily="18" charset="0"/>
                                        <a:ea typeface="DengXian Light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r>
                                      <a:rPr lang="zh-CN" altLang="en-US" sz="3000" i="1" kern="100">
                                        <a:effectLst/>
                                        <a:latin typeface="Cambria Math" panose="02040503050406030204" pitchFamily="18" charset="0"/>
                                        <a:ea typeface="DengXian Light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num>
                              <m:den>
                                <m:limLow>
                                  <m:limLowPr>
                                    <m:ctrlPr>
                                      <a:rPr lang="zh-CN" altLang="en-US" sz="3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limLowPr>
                                  <m:e>
                                    <m:func>
                                      <m:funcPr>
                                        <m:ctrlPr>
                                          <a:rPr lang="en-US" altLang="zh-CN" sz="3000" kern="100">
                                            <a:effectLst/>
                                            <a:latin typeface="Cambria Math" panose="02040503050406030204" pitchFamily="18" charset="0"/>
                                            <a:ea typeface="DengXian Light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3000" kern="100">
                                            <a:effectLst/>
                                            <a:latin typeface="Cambria Math" panose="02040503050406030204" pitchFamily="18" charset="0"/>
                                            <a:ea typeface="DengXian Light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max</m:t>
                                        </m:r>
                                      </m:fName>
                                      <m:e>
                                        <m:sSub>
                                          <m:sSubPr>
                                            <m:ctrlPr>
                                              <a:rPr lang="zh-CN" altLang="en-US" sz="3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̃"/>
                                                <m:ctrlPr>
                                                  <a:rPr lang="zh-CN" altLang="en-US" sz="3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DengXian Light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zh-CN" altLang="en-US" sz="3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DengXian Light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𝜌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CN" sz="3000" i="0" kern="100">
                                                <a:effectLst/>
                                                <a:latin typeface="Times New Roman" panose="02020603050405020304" pitchFamily="18" charset="0"/>
                                                <a:ea typeface="DengXian Light" panose="02010600030101010101" pitchFamily="2" charset="-122"/>
                                              </a:rPr>
                                              <m:t>raw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zh-CN" altLang="en-US" sz="3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DengXian Light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altLang="en-US" sz="3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DengXian Light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𝑝</m:t>
                                            </m:r>
                                            <m:r>
                                              <a:rPr lang="en-US" altLang="zh-CN" sz="3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DengXian Light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zh-CN" altLang="en-US" sz="3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DengXian Light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</m:d>
                                      </m:e>
                                    </m:func>
                                  </m:e>
                                  <m:lim>
                                    <m:r>
                                      <a:rPr lang="zh-CN" altLang="en-US" sz="3000" i="1" kern="100">
                                        <a:effectLst/>
                                        <a:latin typeface="Cambria Math" panose="02040503050406030204" pitchFamily="18" charset="0"/>
                                        <a:ea typeface="DengXian Light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zh-CN" sz="3000" i="1" kern="100">
                                        <a:effectLst/>
                                        <a:latin typeface="Cambria Math" panose="02040503050406030204" pitchFamily="18" charset="0"/>
                                        <a:ea typeface="DengXian Light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r>
                                      <a:rPr lang="zh-CN" altLang="en-US" sz="3000" i="1" kern="100">
                                        <a:effectLst/>
                                        <a:latin typeface="Cambria Math" panose="02040503050406030204" pitchFamily="18" charset="0"/>
                                        <a:ea typeface="DengXian Light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𝑞</m:t>
                                    </m:r>
                                    <m:r>
                                      <a:rPr lang="zh-CN" altLang="en-US" sz="3000" i="1" kern="100">
                                        <a:effectLst/>
                                        <a:latin typeface="Cambria Math" panose="02040503050406030204" pitchFamily="18" charset="0"/>
                                        <a:ea typeface="DengXian Light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</m:lim>
                                </m:limLow>
                              </m:den>
                            </m:f>
                            <m:r>
                              <a:rPr lang="zh-CN" altLang="en-US" sz="3000" i="1" kern="100">
                                <a:effectLst/>
                                <a:latin typeface="Cambria Math" panose="02040503050406030204" pitchFamily="18" charset="0"/>
                                <a:ea typeface="DengXian Light" panose="02010600030101010101" pitchFamily="2" charset="-122"/>
                                <a:cs typeface="Times New Roman" panose="020206030504050203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en-US" altLang="zh-CN" sz="3000" b="0" i="1" kern="100" smtClean="0">
                                    <a:effectLst/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kern="100" smtClean="0">
                                    <a:effectLst/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altLang="zh-CN" sz="3000" b="0" i="1" kern="100" smtClean="0">
                                    <a:effectLst/>
                                    <a:latin typeface="Cambria Math" panose="02040503050406030204" pitchFamily="18" charset="0"/>
                                    <a:ea typeface="DengXian Light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𝑚𝑎𝑥</m:t>
                                </m:r>
                              </m:sub>
                            </m:sSub>
                            <m:r>
                              <a:rPr lang="en-US" altLang="zh-CN" sz="3000" i="1" kern="100">
                                <a:effectLst/>
                                <a:latin typeface="Cambria Math" panose="02040503050406030204" pitchFamily="18" charset="0"/>
                                <a:ea typeface="DengXian Light" panose="02010600030101010101" pitchFamily="2" charset="-122"/>
                                <a:cs typeface="Times New Roman" panose="02020603050405020304" pitchFamily="18" charset="0"/>
                              </a:rPr>
                              <m:t>.</m:t>
                            </m:r>
                          </m:e>
                          <m:e/>
                          <m:e>
                            <m:r>
                              <m:rPr>
                                <m:nor/>
                              </m:rPr>
                              <a:rPr lang="en-US" altLang="zh-CN" sz="3000" i="0" kern="100">
                                <a:effectLst/>
                                <a:latin typeface="Times New Roman" panose="02020603050405020304" pitchFamily="18" charset="0"/>
                                <a:ea typeface="DengXian Light" panose="02010600030101010101" pitchFamily="2" charset="-122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altLang="zh-CN" sz="3000" b="0" i="0" kern="100" smtClean="0">
                                <a:effectLst/>
                                <a:latin typeface="Times New Roman" panose="02020603050405020304" pitchFamily="18" charset="0"/>
                                <a:ea typeface="DengXian Light" panose="02010600030101010101" pitchFamily="2" charset="-122"/>
                              </a:rPr>
                              <m:t>3</m:t>
                            </m:r>
                            <m:r>
                              <m:rPr>
                                <m:nor/>
                              </m:rPr>
                              <a:rPr lang="en-US" altLang="zh-CN" sz="3000" i="0" kern="100">
                                <a:effectLst/>
                                <a:latin typeface="Times New Roman" panose="02020603050405020304" pitchFamily="18" charset="0"/>
                                <a:ea typeface="DengXian Light" panose="02010600030101010101" pitchFamily="2" charset="-122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ru-RU" sz="3000" dirty="0"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ru-RU" sz="30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Объект 4">
                <a:extLst>
                  <a:ext uri="{FF2B5EF4-FFF2-40B4-BE49-F238E27FC236}">
                    <a16:creationId xmlns:a16="http://schemas.microsoft.com/office/drawing/2014/main" id="{E36266F9-74B6-A0CE-D94B-3ED73C14EB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56704" y="20039"/>
                <a:ext cx="12248704" cy="6840285"/>
              </a:xfrm>
              <a:blipFill>
                <a:blip r:embed="rId5"/>
                <a:stretch>
                  <a:fillRect r="-11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9259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1C520-D4C2-028F-7332-7AEF0D731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D0C2BCFA-CDF8-AF5B-4AA2-A14B21138D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2BAF5221-2353-DA23-50A2-522D76028B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F3B3F7F-1270-E865-06E5-40551470077E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6F7B7A3-41F4-3BB0-2888-C5A01AC343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14" name="Заголовок 5">
            <a:extLst>
              <a:ext uri="{FF2B5EF4-FFF2-40B4-BE49-F238E27FC236}">
                <a16:creationId xmlns:a16="http://schemas.microsoft.com/office/drawing/2014/main" id="{D1D3872D-6C03-BA29-F7CC-2F709468F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104" y="-202622"/>
            <a:ext cx="10515600" cy="1325563"/>
          </a:xfrm>
        </p:spPr>
        <p:txBody>
          <a:bodyPr/>
          <a:lstStyle/>
          <a:p>
            <a:r>
              <a:rPr lang="ru-RU" dirty="0" err="1">
                <a:cs typeface="Times New Roman" panose="02020603050405020304" pitchFamily="18" charset="0"/>
              </a:rPr>
              <a:t>Агентный</a:t>
            </a:r>
            <a:r>
              <a:rPr lang="ru-RU" dirty="0">
                <a:cs typeface="Times New Roman" panose="02020603050405020304" pitchFamily="18" charset="0"/>
              </a:rPr>
              <a:t> алгоритм И.В. Кашина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83C2199-E29B-1717-68D9-28B931D01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z="3000" smtClean="0"/>
              <a:t>15</a:t>
            </a:fld>
            <a:endParaRPr lang="ru-RU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4">
                <a:extLst>
                  <a:ext uri="{FF2B5EF4-FFF2-40B4-BE49-F238E27FC236}">
                    <a16:creationId xmlns:a16="http://schemas.microsoft.com/office/drawing/2014/main" id="{1158F6C8-4917-AD61-31FF-5A677121DE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789356"/>
                <a:ext cx="12192000" cy="5463686"/>
              </a:xfrm>
            </p:spPr>
            <p:txBody>
              <a:bodyPr>
                <a:noAutofit/>
              </a:bodyPr>
              <a:lstStyle/>
              <a:p>
                <a:pPr marL="270000" indent="0" algn="just">
                  <a:lnSpc>
                    <a:spcPct val="150000"/>
                  </a:lnSpc>
                  <a:buNone/>
                </a:pPr>
                <a:r>
                  <a:rPr lang="ru-RU" altLang="zh-CN" sz="3000" kern="100" dirty="0">
                    <a:latin typeface="Times New Roman" panose="02020603050405020304" pitchFamily="18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     1) </a:t>
                </a:r>
                <a:r>
                  <a:rPr lang="ru-RU" altLang="zh-CN" sz="3000" kern="100" dirty="0">
                    <a:effectLst/>
                    <a:latin typeface="Times New Roman" panose="02020603050405020304" pitchFamily="18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Э</a:t>
                </a:r>
                <a:r>
                  <a:rPr lang="ru-RU" sz="3000" dirty="0"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талонное распределение: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30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zh-CN" altLang="en-US" sz="3000" i="1" kern="100">
                                <a:latin typeface="Cambria Math" panose="02040503050406030204" pitchFamily="18" charset="0"/>
                                <a:ea typeface="DengXian Light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3000" i="1" kern="100">
                                <a:latin typeface="Cambria Math" panose="02040503050406030204" pitchFamily="18" charset="0"/>
                                <a:ea typeface="DengXian Light" panose="02010600030101010101" pitchFamily="2" charset="-122"/>
                                <a:cs typeface="Times New Roman" panose="02020603050405020304" pitchFamily="18" charset="0"/>
                              </a:rPr>
                              <m:t>𝜌</m:t>
                            </m:r>
                          </m:e>
                        </m:acc>
                        <m:r>
                          <a:rPr lang="ru-RU" altLang="zh-CN" sz="3000" b="0" i="1" kern="100" smtClean="0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𝑗</m:t>
                        </m:r>
                        <m:r>
                          <a:rPr lang="ru-RU" altLang="zh-CN" sz="30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)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sz="3000" i="0" kern="100">
                            <a:latin typeface="Times New Roman" panose="020206030504050203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norm</m:t>
                        </m:r>
                      </m:sub>
                    </m:sSub>
                  </m:oMath>
                </a14:m>
                <a:r>
                  <a:rPr lang="ru-RU" altLang="zh-CN" sz="3000" dirty="0"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= </a:t>
                </a:r>
                <a:r>
                  <a:rPr lang="zh-CN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ru-RU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𝑆</m:t>
                        </m:r>
                        <m:r>
                          <a:rPr lang="ru-RU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𝑗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)</m:t>
                        </m:r>
                      </m:e>
                      <m:sub>
                        <m:acc>
                          <m:accPr>
                            <m:chr m:val="̃"/>
                            <m:ctrlPr>
                              <a:rPr lang="ru-RU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ru-RU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𝜌</m:t>
                            </m:r>
                          </m:e>
                        </m:acc>
                      </m:sub>
                    </m:sSub>
                  </m:oMath>
                </a14:m>
                <a:r>
                  <a:rPr lang="ru-RU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ru-RU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𝑆</m:t>
                        </m:r>
                        <m:r>
                          <a:rPr lang="ru-RU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𝑗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)</m:t>
                        </m:r>
                      </m:e>
                      <m:sub>
                        <m:acc>
                          <m:accPr>
                            <m:chr m:val="̃"/>
                            <m:ctrlPr>
                              <a:rPr lang="ru-RU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ru-RU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𝜌</m:t>
                            </m:r>
                          </m:e>
                        </m:acc>
                      </m:sub>
                    </m:sSub>
                  </m:oMath>
                </a14:m>
                <a:r>
                  <a:rPr lang="ru-RU" altLang="zh-CN" sz="3000" dirty="0">
                    <a:latin typeface="Times New Roman" panose="02020603050405020304" pitchFamily="18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</a:t>
                </a:r>
                <a:r>
                  <a:rPr lang="zh-CN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интенсивность от 0 до 255 в ячейке (</a:t>
                </a:r>
                <a:r>
                  <a:rPr lang="zh-CN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zh-CN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zh-CN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70000" indent="450000" algn="just">
                  <a:lnSpc>
                    <a:spcPct val="150000"/>
                  </a:lnSpc>
                  <a:buNone/>
                </a:pPr>
                <a:r>
                  <a:rPr lang="en-US" sz="3000" dirty="0"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2) </a:t>
                </a:r>
                <a:r>
                  <a:rPr lang="ru-RU" sz="3000" dirty="0"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Динамическое</a:t>
                </a:r>
                <a:r>
                  <a:rPr lang="en-US" sz="3000" dirty="0"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3000" dirty="0"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распределение</a:t>
                </a:r>
                <a:r>
                  <a:rPr lang="en-US" sz="3000" dirty="0"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3000" dirty="0"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в момент времени </a:t>
                </a:r>
                <a:r>
                  <a:rPr lang="en-US" sz="3000" dirty="0"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</a:t>
                </a:r>
                <a:r>
                  <a:rPr lang="ru-RU" sz="3000" dirty="0"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zh-CN" sz="3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ru-RU" altLang="zh-CN" sz="3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𝜌</m:t>
                        </m:r>
                        <m:r>
                          <a:rPr lang="ru-RU" altLang="zh-CN" sz="3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𝑗</m:t>
                        </m:r>
                        <m:r>
                          <a:rPr lang="ru-RU" altLang="zh-CN" sz="30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)</m:t>
                        </m:r>
                      </m:e>
                      <m:sub>
                        <m:r>
                          <a:rPr lang="en-US" altLang="zh-CN" sz="3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  <m:r>
                      <a:rPr lang="ru-RU" altLang="zh-CN" sz="3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=(</m:t>
                    </m:r>
                    <m:sSub>
                      <m:sSubPr>
                        <m:ctrlPr>
                          <a:rPr lang="ru-RU" altLang="zh-CN" sz="3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ru-RU" altLang="zh-CN" sz="3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𝑆</m:t>
                        </m:r>
                        <m:r>
                          <m:rPr>
                            <m:nor/>
                          </m:rPr>
                          <a:rPr lang="zh-CN" altLang="zh-CN" sz="3000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​(</m:t>
                        </m:r>
                        <m:r>
                          <m:rPr>
                            <m:nor/>
                          </m:rPr>
                          <a:rPr lang="zh-CN" altLang="zh-CN" sz="30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zh-CN" altLang="zh-CN" sz="3000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zh-CN" altLang="zh-CN" sz="30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  <m:r>
                          <m:rPr>
                            <m:nor/>
                          </m:rPr>
                          <a:rPr lang="zh-CN" altLang="zh-CN" sz="3000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b>
                        <m:sSub>
                          <m:sSubPr>
                            <m:ctrlPr>
                              <a:rPr lang="ru-RU" altLang="zh-CN" sz="3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ru-RU" altLang="zh-CN" sz="3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zh-CN" sz="30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𝒕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u-RU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zh-CN" sz="3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ru-RU" altLang="zh-CN" sz="3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𝑆</m:t>
                        </m:r>
                        <m:r>
                          <m:rPr>
                            <m:nor/>
                          </m:rPr>
                          <a:rPr lang="zh-CN" altLang="zh-CN" sz="3000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​(</m:t>
                        </m:r>
                        <m:r>
                          <m:rPr>
                            <m:nor/>
                          </m:rPr>
                          <a:rPr lang="zh-CN" altLang="zh-CN" sz="30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zh-CN" altLang="zh-CN" sz="3000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zh-CN" altLang="zh-CN" sz="30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  <m:r>
                          <m:rPr>
                            <m:nor/>
                          </m:rPr>
                          <a:rPr lang="zh-CN" altLang="zh-CN" sz="3000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b>
                        <m:sSub>
                          <m:sSubPr>
                            <m:ctrlPr>
                              <a:rPr lang="ru-RU" altLang="zh-CN" sz="3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ru-RU" altLang="zh-CN" sz="3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zh-CN" sz="30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𝒕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u-RU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количество посещений ячейки (</a:t>
                </a:r>
                <a:r>
                  <a:rPr lang="zh-CN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zh-CN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zh-CN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 </a:t>
                </a:r>
                <a:r>
                  <a:rPr lang="ru-RU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агентами </a:t>
                </a:r>
                <a:r>
                  <a:rPr lang="zh-CN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 моменту </a:t>
                </a:r>
                <a:r>
                  <a:rPr lang="zh-CN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70000" indent="450000" algn="just">
                  <a:lnSpc>
                    <a:spcPct val="150000"/>
                  </a:lnSpc>
                  <a:buNone/>
                </a:pPr>
                <a:r>
                  <a:rPr lang="ru-RU" sz="3000" dirty="0"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3) Агенты: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kern="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kern="10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3000" b="0" i="1" kern="10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3000" kern="1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000" kern="1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3000" kern="100">
                        <a:latin typeface="Cambria Math" panose="02040503050406030204" pitchFamily="18" charset="0"/>
                      </a:rPr>
                      <m:t>) = (</m:t>
                    </m:r>
                    <m:sSub>
                      <m:sSubPr>
                        <m:ctrlPr>
                          <a:rPr lang="en-US" altLang="zh-CN" sz="3000" kern="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kern="10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000" b="0" i="1" kern="10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3000" kern="1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000" kern="1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3000" kern="100">
                        <a:latin typeface="Cambria Math" panose="02040503050406030204" pitchFamily="18" charset="0"/>
                      </a:rPr>
                      <m:t>), </m:t>
                    </m:r>
                    <m:sSub>
                      <m:sSubPr>
                        <m:ctrlPr>
                          <a:rPr lang="en-US" altLang="zh-CN" sz="3000" kern="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kern="10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3000" b="0" i="1" kern="10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altLang="zh-CN" sz="3000" kern="1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kern="10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u-RU" altLang="zh-CN" sz="3000" b="0" i="0" kern="10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altLang="zh-CN" sz="3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𝛼</m:t>
                    </m:r>
                    <m:r>
                      <a:rPr lang="en-US" altLang="zh-CN" sz="3000" kern="1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altLang="zh-CN" sz="3000" kern="1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b="0" i="0" kern="1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000" b="0" i="0" kern="10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3000" b="0" i="0" kern="10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m:rPr>
                        <m:nor/>
                      </m:rPr>
                      <a:rPr lang="zh-CN" altLang="zh-CN" sz="30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(t)</m:t>
                    </m:r>
                  </m:oMath>
                </a14:m>
                <a:r>
                  <a:rPr lang="zh-CN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 — позиция </a:t>
                </a:r>
                <a14:m>
                  <m:oMath xmlns:m="http://schemas.openxmlformats.org/officeDocument/2006/math">
                    <m:r>
                      <a:rPr lang="zh-CN" altLang="en-US" sz="3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-го агента в </a:t>
                </a:r>
                <a:r>
                  <a:rPr lang="ru-RU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момент</a:t>
                </a:r>
                <a:r>
                  <a:rPr lang="zh-CN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zh-CN" altLang="en-US" sz="30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kern="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kern="10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3000" i="1" kern="10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ru-RU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𝑡</a:t>
                </a:r>
                <a:r>
                  <a:rPr lang="ru-RU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— выбор одного из восьми направлений для перемещения k-го агента в момент t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r>
                  <a:rPr lang="ru-RU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altLang="zh-CN" sz="3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𝛼</m:t>
                    </m:r>
                  </m:oMath>
                </a14:m>
                <a:r>
                  <a:rPr lang="ru-RU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вес шага агента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4">
                <a:extLst>
                  <a:ext uri="{FF2B5EF4-FFF2-40B4-BE49-F238E27FC236}">
                    <a16:creationId xmlns:a16="http://schemas.microsoft.com/office/drawing/2014/main" id="{1158F6C8-4917-AD61-31FF-5A677121DE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789356"/>
                <a:ext cx="12192000" cy="5463686"/>
              </a:xfrm>
              <a:blipFill>
                <a:blip r:embed="rId5"/>
                <a:stretch>
                  <a:fillRect r="-1150" b="-109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4144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E2004-0377-80E3-DCC8-5D6974861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B01E660A-88B1-4276-74F1-6B0055D101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D0C2BCFA-CDF8-AF5B-4AA2-A14B21138D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5AEBB1F-41CC-B1DE-7905-4C9B90B12A28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0E47B93-BEAA-3215-60E4-E0C3E6B7B2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14" name="Заголовок 5">
            <a:extLst>
              <a:ext uri="{FF2B5EF4-FFF2-40B4-BE49-F238E27FC236}">
                <a16:creationId xmlns:a16="http://schemas.microsoft.com/office/drawing/2014/main" id="{108BAF56-F864-49FE-986B-BF83F60FB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104" y="-202622"/>
            <a:ext cx="10515600" cy="1325563"/>
          </a:xfrm>
        </p:spPr>
        <p:txBody>
          <a:bodyPr/>
          <a:lstStyle/>
          <a:p>
            <a:r>
              <a:rPr lang="ru-RU" dirty="0" err="1">
                <a:cs typeface="Times New Roman" panose="02020603050405020304" pitchFamily="18" charset="0"/>
              </a:rPr>
              <a:t>Агентный</a:t>
            </a:r>
            <a:r>
              <a:rPr lang="ru-RU" dirty="0">
                <a:cs typeface="Times New Roman" panose="02020603050405020304" pitchFamily="18" charset="0"/>
              </a:rPr>
              <a:t> алгоритм И.В. Кашина 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B398FE2-351D-AC65-59C0-ADE3E13B2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z="3000" smtClean="0"/>
              <a:t>16</a:t>
            </a:fld>
            <a:endParaRPr lang="ru-RU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4">
                <a:extLst>
                  <a:ext uri="{FF2B5EF4-FFF2-40B4-BE49-F238E27FC236}">
                    <a16:creationId xmlns:a16="http://schemas.microsoft.com/office/drawing/2014/main" id="{6AB2375B-5808-746B-9FD1-4ABE1C24F6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56704" y="789356"/>
                <a:ext cx="12248704" cy="6068644"/>
              </a:xfrm>
            </p:spPr>
            <p:txBody>
              <a:bodyPr>
                <a:noAutofit/>
              </a:bodyPr>
              <a:lstStyle/>
              <a:p>
                <a:pPr marL="270000" indent="449580" algn="just">
                  <a:lnSpc>
                    <a:spcPct val="150000"/>
                  </a:lnSpc>
                  <a:buNone/>
                </a:pPr>
                <a:r>
                  <a:rPr lang="ru-RU" altLang="zh-CN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altLang="zh-CN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ru-RU" altLang="zh-CN" kern="1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Выбор направления агента</a:t>
                </a:r>
                <a:r>
                  <a:rPr lang="en-US" altLang="zh-CN" kern="1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CN" altLang="zh-CN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ru-RU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𝐾</m:t>
                        </m:r>
                      </m:e>
                      <m:sub>
                        <m:r>
                          <a:rPr lang="ru-RU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ru-RU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ru-RU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e>
                      <m:sub>
                        <m: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  <m:r>
                      <a:rPr lang="ru-RU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zh-CN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ru-RU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</m:acc>
                        <m:d>
                          <m:dPr>
                            <m:ctrlPr>
                              <a:rPr lang="ru-RU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ru-RU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e>
                      <m:sub>
                        <m:r>
                          <m:rPr>
                            <m:nor/>
                          </m:rPr>
                          <a:rPr lang="en-US" altLang="zh-CN" i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norm</m:t>
                        </m:r>
                      </m:sub>
                    </m:sSub>
                    <m:r>
                      <a:rPr lang="ru-RU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f>
                      <m:fPr>
                        <m:ctrlPr>
                          <a:rPr lang="zh-CN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ru-RU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𝑆</m:t>
                            </m:r>
                          </m:e>
                          <m:sub>
                            <m:acc>
                              <m:accPr>
                                <m:chr m:val="̃"/>
                                <m:ctrlPr>
                                  <a:rPr lang="ru-RU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ru-RU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𝜌</m:t>
                                </m:r>
                              </m:e>
                            </m:acc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ru-RU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𝑆</m:t>
                            </m:r>
                          </m:e>
                          <m:sub>
                            <m:sSub>
                              <m:sSubPr>
                                <m:ctrlPr>
                                  <a:rPr lang="ru-RU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ru-RU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  <m:r>
                          <a:rPr lang="ru-RU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ru-RU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𝜀</m:t>
                        </m:r>
                      </m:den>
                    </m:f>
                    <m:r>
                      <a:rPr lang="ru-RU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⋅</m:t>
                    </m:r>
                    <m:sSub>
                      <m:sSubPr>
                        <m:ctrlPr>
                          <a:rPr lang="ru-RU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ru-RU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𝜌</m:t>
                        </m:r>
                        <m:d>
                          <m:dPr>
                            <m:ctrlPr>
                              <a:rPr lang="ru-RU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ru-RU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e>
                      <m:sub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altLang="zh-CN" kern="1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el-GR" altLang="zh-CN" i="1" kern="10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ru-RU" altLang="zh-CN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altLang="zh-CN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−</m:t>
                    </m:r>
                  </m:oMath>
                </a14:m>
                <a:r>
                  <a:rPr lang="ru-RU" altLang="zh-CN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малое положительное число</a:t>
                </a:r>
                <a:r>
                  <a:rPr lang="en-US" altLang="zh-CN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ru-RU" altLang="zh-CN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𝑆</m:t>
                        </m:r>
                      </m:e>
                      <m:sub>
                        <m:acc>
                          <m:accPr>
                            <m:chr m:val="̃"/>
                            <m:ctrlPr>
                              <a:rPr lang="ru-RU" altLang="zh-CN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ru-RU" altLang="zh-CN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𝜌</m:t>
                            </m:r>
                          </m:e>
                        </m:acc>
                      </m:sub>
                    </m:sSub>
                    <m:r>
                      <a:rPr lang="ru-RU" altLang="zh-CN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grow m:val="on"/>
                        <m:supHide m:val="on"/>
                        <m:ctrlPr>
                          <a:rPr lang="ru-RU" altLang="zh-CN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a:rPr lang="ru-RU" altLang="zh-CN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𝑟</m:t>
                        </m:r>
                      </m:sub>
                      <m:sup/>
                      <m:e>
                        <m:limUpp>
                          <m:limUppPr>
                            <m:ctrlPr>
                              <a:rPr lang="ru-RU" altLang="zh-CN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</m:ctrlPr>
                          </m:limUppPr>
                          <m:e>
                            <m:r>
                              <a:rPr lang="ru-RU" altLang="zh-CN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𝜌</m:t>
                            </m:r>
                          </m:e>
                          <m:lim>
                            <m:r>
                              <a:rPr lang="ru-RU" altLang="zh-CN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~</m:t>
                            </m:r>
                          </m:lim>
                        </m:limUpp>
                        <m:sSub>
                          <m:sSubPr>
                            <m:ctrlPr>
                              <a:rPr lang="zh-CN" altLang="zh-CN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ru-RU" altLang="zh-CN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altLang="zh-CN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ru-RU" altLang="zh-CN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>
                                <a:solidFill>
                                  <a:schemeClr val="dk1"/>
                                </a:solidFill>
                                <a:latin typeface="Times New Roman" panose="020206030504050203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norm</m:t>
                            </m:r>
                          </m:sub>
                        </m:sSub>
                      </m:e>
                    </m:nary>
                  </m:oMath>
                </a14:m>
                <a:r>
                  <a:rPr lang="ru-RU" altLang="zh-CN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altLang="zh-CN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−</m:t>
                    </m:r>
                    <m:r>
                      <a:rPr lang="ru-RU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 </m:t>
                    </m:r>
                    <m:r>
                      <a:rPr lang="ru-RU" altLang="zh-CN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ru-RU" altLang="zh-CN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полная сумма эталонного распределения;</a:t>
                </a:r>
                <a:r>
                  <a:rPr lang="ru-RU" altLang="zh-CN" kern="1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ru-RU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ru-RU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ru-RU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𝒕</m:t>
                            </m:r>
                          </m:sub>
                        </m:sSub>
                      </m:sub>
                    </m:sSub>
                    <m:r>
                      <a:rPr lang="ru-RU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ru-RU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ru-RU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ru-RU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ru-RU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𝒕</m:t>
                            </m:r>
                            <m:r>
                              <a:rPr lang="ru-RU" altLang="zh-CN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lang="ru-RU" altLang="zh-CN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  <m:r>
                      <a:rPr lang="ru-RU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+ </m:t>
                    </m:r>
                    <m:sSub>
                      <m:sSubPr>
                        <m:ctrlPr>
                          <a:rPr lang="ru-RU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ru-RU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agents</m:t>
                        </m:r>
                      </m:sub>
                    </m:sSub>
                    <m:r>
                      <a:rPr lang="ru-RU" altLang="zh-CN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 ∙</m:t>
                    </m:r>
                    <m:r>
                      <a:rPr lang="ru-RU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𝛼</m:t>
                    </m:r>
                    <m:r>
                      <a:rPr lang="ru-RU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 − </m:t>
                    </m:r>
                  </m:oMath>
                </a14:m>
                <a:r>
                  <a:rPr lang="ru-RU" altLang="zh-CN" kern="1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полная сумма динамического распределения</a:t>
                </a:r>
                <a:r>
                  <a:rPr lang="en-US" altLang="zh-CN" kern="1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altLang="zh-CN" kern="1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момент времени </a:t>
                </a:r>
                <a:r>
                  <a:rPr lang="en-US" altLang="zh-CN" kern="1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ru-RU" altLang="zh-CN" kern="1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ru-RU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agents</m:t>
                        </m:r>
                      </m:sub>
                    </m:sSub>
                    <m:r>
                      <a:rPr lang="ru-RU" altLang="zh-CN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 </m:t>
                    </m:r>
                    <m:r>
                      <a:rPr lang="ru-RU" altLang="zh-CN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−</m:t>
                    </m:r>
                  </m:oMath>
                </a14:m>
                <a:r>
                  <a:rPr lang="ru-RU" altLang="zh-CN" kern="1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число агентов </a:t>
                </a:r>
                <a:r>
                  <a:rPr lang="en-US" altLang="zh-CN" kern="1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[2]</a:t>
                </a:r>
                <a:r>
                  <a:rPr lang="ru-RU" altLang="zh-CN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449580">
                  <a:lnSpc>
                    <a:spcPts val="3000"/>
                  </a:lnSpc>
                  <a:spcBef>
                    <a:spcPts val="2000"/>
                  </a:spcBef>
                  <a:spcAft>
                    <a:spcPts val="800"/>
                  </a:spcAft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[2] </a:t>
                </a:r>
                <a:r>
                  <a:rPr lang="zh-C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Математическое моделирование, 2025, том 37, номер 6, страницы 88–102 ,</a:t>
                </a:r>
                <a:r>
                  <a:rPr lang="ru-RU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hlinkClick r:id="rId5"/>
                  </a:rPr>
                  <a:t>https://www.mathnet.ru/php/archive.phtml?wshow=paper&amp;jrnid=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hlinkClick r:id="rId5"/>
                  </a:rPr>
                  <a:t>m</a:t>
                </a:r>
                <a:r>
                  <a:rPr lang="ru-RU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hlinkClick r:id="rId5"/>
                  </a:rPr>
                  <a:t>m&amp;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>
                  <a:lnSpc>
                    <a:spcPts val="3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ru-RU" altLang="zh-C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paperid</a:t>
                </a:r>
                <a:r>
                  <a:rPr lang="ru-R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=4650&amp;option_lang=</a:t>
                </a:r>
                <a:r>
                  <a:rPr lang="ru-RU" altLang="zh-C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rus</a:t>
                </a:r>
                <a:endParaRPr lang="ru-RU" sz="30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4">
                <a:extLst>
                  <a:ext uri="{FF2B5EF4-FFF2-40B4-BE49-F238E27FC236}">
                    <a16:creationId xmlns:a16="http://schemas.microsoft.com/office/drawing/2014/main" id="{6AB2375B-5808-746B-9FD1-4ABE1C24F6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56704" y="789356"/>
                <a:ext cx="12248704" cy="6068644"/>
              </a:xfrm>
              <a:blipFill>
                <a:blip r:embed="rId6"/>
                <a:stretch>
                  <a:fillRect r="-996" b="-5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0640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61666-CDEA-2A89-89A6-B95D5980D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F71C2A5-F668-B2CF-C150-721B4F658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92571"/>
            <a:ext cx="4564743" cy="600842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0B93780-BBEE-D479-F77F-F3535B814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468" y="789356"/>
            <a:ext cx="4362896" cy="6062317"/>
          </a:xfrm>
          <a:prstGeom prst="rect">
            <a:avLst/>
          </a:prstGeom>
        </p:spPr>
      </p:pic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42FFE500-14CE-E6EE-DE2B-67C732DFBB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4" imgW="2566457" imgH="894201" progId="CorelDraw.Graphic.22">
                  <p:embed/>
                </p:oleObj>
              </mc:Choice>
              <mc:Fallback>
                <p:oleObj name="CorelDRAW" r:id="rId4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369A8853-7A71-89A2-FF5D-1CDC79C3C4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B7BB4BA-9EDB-641C-A69D-E96CC59EBBF5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C6C1A05-517C-2CEE-2CFA-BA78D0A9D1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11" name="Заголовок 5">
            <a:extLst>
              <a:ext uri="{FF2B5EF4-FFF2-40B4-BE49-F238E27FC236}">
                <a16:creationId xmlns:a16="http://schemas.microsoft.com/office/drawing/2014/main" id="{30FF436B-CBAF-4B2D-6CA0-90B6483E8171}"/>
              </a:ext>
            </a:extLst>
          </p:cNvPr>
          <p:cNvSpPr txBox="1">
            <a:spLocks/>
          </p:cNvSpPr>
          <p:nvPr/>
        </p:nvSpPr>
        <p:spPr>
          <a:xfrm>
            <a:off x="1733104" y="-19631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cs typeface="Times New Roman" panose="02020603050405020304" pitchFamily="18" charset="0"/>
              </a:rPr>
              <a:t>Алгоритмическая модель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52E6A3-F532-3B2E-E1C0-B4089B325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z="3000" smtClean="0"/>
              <a:t>17</a:t>
            </a:fld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1332113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B3CBE-E1E8-A7B1-8D26-F77410BB6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745948C-3EF0-1473-E6F3-21ABEF77D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25" y="778221"/>
            <a:ext cx="11485654" cy="5626001"/>
          </a:xfrm>
          <a:prstGeom prst="rect">
            <a:avLst/>
          </a:prstGeom>
        </p:spPr>
      </p:pic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42B4D0D8-D8E7-0AEC-3389-1F06ECE797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4" imgW="2566457" imgH="894201" progId="CorelDraw.Graphic.22">
                  <p:embed/>
                </p:oleObj>
              </mc:Choice>
              <mc:Fallback>
                <p:oleObj name="CorelDRAW" r:id="rId4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42FFE500-14CE-E6EE-DE2B-67C732DFBB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A2E9B46-92DB-0BAC-39D2-747C86C03ABD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294756E-C670-F886-78A0-E866F8B5DC0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11" name="Заголовок 5">
            <a:extLst>
              <a:ext uri="{FF2B5EF4-FFF2-40B4-BE49-F238E27FC236}">
                <a16:creationId xmlns:a16="http://schemas.microsoft.com/office/drawing/2014/main" id="{F82A3692-7224-8042-A0A8-B6C19A1F9463}"/>
              </a:ext>
            </a:extLst>
          </p:cNvPr>
          <p:cNvSpPr txBox="1">
            <a:spLocks/>
          </p:cNvSpPr>
          <p:nvPr/>
        </p:nvSpPr>
        <p:spPr>
          <a:xfrm>
            <a:off x="1733104" y="-19631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cs typeface="Times New Roman" panose="02020603050405020304" pitchFamily="18" charset="0"/>
              </a:rPr>
              <a:t>Проектирование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FE131D2-2921-0300-EAC6-912A84449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z="3000" smtClean="0"/>
              <a:t>18</a:t>
            </a:fld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684814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98433-2337-B300-4E89-54CEA3033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E1188E5E-8142-0FDA-4AE8-56947AE7AD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CD8B8062-4DD7-7E10-2AC1-9D346CD760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CB32D27-49A8-92D8-6A34-6C02430FA882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F4B434C-EA59-0D91-64EA-75E326F2C2E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10" name="Заголовок 5">
            <a:extLst>
              <a:ext uri="{FF2B5EF4-FFF2-40B4-BE49-F238E27FC236}">
                <a16:creationId xmlns:a16="http://schemas.microsoft.com/office/drawing/2014/main" id="{21D015C1-9A82-97D2-45B8-3B3405F17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104" y="-202622"/>
            <a:ext cx="10515600" cy="1325563"/>
          </a:xfrm>
        </p:spPr>
        <p:txBody>
          <a:bodyPr/>
          <a:lstStyle/>
          <a:p>
            <a:r>
              <a:rPr lang="ru-RU" dirty="0">
                <a:cs typeface="Times New Roman" panose="02020603050405020304" pitchFamily="18" charset="0"/>
              </a:rPr>
              <a:t>Инженерная реализация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1AAE30-7B61-DA25-2986-D6A31755E38B}"/>
              </a:ext>
            </a:extLst>
          </p:cNvPr>
          <p:cNvSpPr txBox="1"/>
          <p:nvPr/>
        </p:nvSpPr>
        <p:spPr>
          <a:xfrm>
            <a:off x="983389" y="1122941"/>
            <a:ext cx="1022522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000" algn="just"/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реализации основного вычислительного модуля на C++ использовалась интегрированная среда разработки </a:t>
            </a:r>
            <a:r>
              <a:rPr lang="ru-RU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PyCharm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2024.2.1. Компиляция кода выполнялась из командной строки с применением инструментария MSYS (MinGW‑w64). Код соответствует стандарту «ISO/IEC 14882:2014(E) </a:t>
            </a:r>
            <a:r>
              <a:rPr lang="ru-RU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Programming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Language C++» (C++14).</a:t>
            </a:r>
          </a:p>
          <a:p>
            <a:pPr indent="450000" algn="just"/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000" algn="just"/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реализации модуля визуализации, интеграции с высокопроизводительным C++‑ядром и обработки видеопотока применялась та же среда разработки </a:t>
            </a:r>
            <a:r>
              <a:rPr lang="ru-RU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PyCharm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2024.2.1 с использованием языка Python версии 3.12.2.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C84570-BBF9-6358-E990-7516FD23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z="3000" smtClean="0"/>
              <a:t>19</a:t>
            </a:fld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3308787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33227-37B6-B7EE-F60E-4D0AAE7F1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D8B8062-4DD7-7E10-2AC1-9D346CD760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5BFC14F0-553F-8A7C-0C83-B998EBE488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D726E86-F9F2-D248-BA4F-45E5F30E517D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1CE9313-78C4-AA3F-8EF5-152638EC74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10" name="Заголовок 5">
            <a:extLst>
              <a:ext uri="{FF2B5EF4-FFF2-40B4-BE49-F238E27FC236}">
                <a16:creationId xmlns:a16="http://schemas.microsoft.com/office/drawing/2014/main" id="{096A7D76-AD04-D6F5-E451-D7BF16494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104" y="-202622"/>
            <a:ext cx="10515600" cy="1325563"/>
          </a:xfrm>
        </p:spPr>
        <p:txBody>
          <a:bodyPr/>
          <a:lstStyle/>
          <a:p>
            <a:r>
              <a:rPr lang="ru-RU" altLang="zh-CN" dirty="0">
                <a:cs typeface="Times New Roman" panose="02020603050405020304" pitchFamily="18" charset="0"/>
              </a:rPr>
              <a:t>Инженерная реализация</a:t>
            </a:r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D704C7-FFCD-B0D2-4D20-35F34F5BF1EC}"/>
              </a:ext>
            </a:extLst>
          </p:cNvPr>
          <p:cNvSpPr txBox="1"/>
          <p:nvPr/>
        </p:nvSpPr>
        <p:spPr>
          <a:xfrm>
            <a:off x="493487" y="875429"/>
            <a:ext cx="1140410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оптимизации программы был сделан: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Вынос критических вычислений в библиотеку на C++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матричных операций для расчета коэффициента 𝐾𝑝(𝑟) одновременно для всех ячеек сетки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параллельных вычислений для перемещения агентов и усреднения по ячейкам при формировании эталонной карты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Выполнение нескольких шагов симуляции за один вызов функции C++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Организовано эффективное управление памятью: передача массивов в C++ по ссылке исключающая создание лишних копий.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0BCA6F-675D-56A6-711A-05F399ECA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z="3000" smtClean="0"/>
              <a:t>20</a:t>
            </a:fld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3768348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EFC4D-D036-ED1E-8E7E-718145408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9BF13D3B-34A2-5B92-27D0-1F394B2333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CD8B8062-4DD7-7E10-2AC1-9D346CD760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A5F5AF0-C20F-1CAF-4202-1561A7274CFB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BA09512-4D19-E02E-5D84-79C8EC0412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10" name="Заголовок 5">
            <a:extLst>
              <a:ext uri="{FF2B5EF4-FFF2-40B4-BE49-F238E27FC236}">
                <a16:creationId xmlns:a16="http://schemas.microsoft.com/office/drawing/2014/main" id="{081868A2-6695-499B-C1FF-4D32372F9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104" y="-202622"/>
            <a:ext cx="10515600" cy="1325563"/>
          </a:xfrm>
        </p:spPr>
        <p:txBody>
          <a:bodyPr/>
          <a:lstStyle/>
          <a:p>
            <a:r>
              <a:rPr lang="ru-RU" altLang="zh-CN" dirty="0">
                <a:cs typeface="Times New Roman" panose="02020603050405020304" pitchFamily="18" charset="0"/>
              </a:rPr>
              <a:t>Коэффициент корреляции Пирсона</a:t>
            </a:r>
            <a:endParaRPr lang="ru-RU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CF3B97-3152-2E72-02AB-553608EC02AF}"/>
                  </a:ext>
                </a:extLst>
              </p:cNvPr>
              <p:cNvSpPr txBox="1"/>
              <p:nvPr/>
            </p:nvSpPr>
            <p:spPr>
              <a:xfrm>
                <a:off x="493487" y="875429"/>
                <a:ext cx="11079096" cy="6818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Используется для оценки сходства эталонного </a:t>
                </a:r>
                <a:r>
                  <a:rPr kumimoji="0" lang="ru-RU" altLang="zh-CN" sz="3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kumimoji="0" lang="zh-CN" altLang="ar-AE" sz="3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0" lang="zh-CN" altLang="ar-AE" sz="3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acc>
                  </m:oMath>
                </a14:m>
                <a:r>
                  <a:rPr lang="ru-RU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динамического </a:t>
                </a:r>
                <a:r>
                  <a:rPr lang="zh-CN" altLang="ru-RU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𝜌 </a:t>
                </a:r>
                <a:r>
                  <a:rPr lang="ru-RU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распределений:</a:t>
                </a:r>
                <a:endParaRPr lang="en-US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zh-CN" altLang="ru-RU" sz="3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kumimoji="0" lang="ru-RU" altLang="zh-CN" sz="3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ar-AE" altLang="zh-CN" sz="30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kumimoji="0" lang="ar-AE" altLang="zh-CN" sz="30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kumimoji="0" lang="ar-AE" altLang="zh-CN" sz="3000" b="0" i="0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nary>
                          <m:d>
                            <m:dPr>
                              <m:begChr m:val=""/>
                              <m:ctrlPr>
                                <a:rPr kumimoji="0" lang="ar-AE" altLang="zh-CN" sz="30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ar-AE" altLang="zh-CN" sz="30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kumimoji="0" lang="zh-CN" altLang="ar-AE" sz="3000" b="0" i="1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zh-CN" altLang="ar-AE" sz="3000" b="0" i="1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0" lang="zh-CN" altLang="ar-AE" sz="30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kumimoji="0" lang="ar-AE" altLang="zh-CN" sz="3000" b="0" i="0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groupChr>
                                <m:groupChrPr>
                                  <m:chr m:val="‾"/>
                                  <m:pos m:val="top"/>
                                  <m:vertJc m:val="bot"/>
                                  <m:ctrlPr>
                                    <a:rPr kumimoji="0" lang="ar-AE" altLang="zh-CN" sz="30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kumimoji="0" lang="zh-CN" altLang="ar-AE" sz="3000" b="0" i="1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zh-CN" altLang="ar-AE" sz="3000" b="0" i="1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</m:acc>
                                </m:e>
                              </m:groupChr>
                            </m:e>
                          </m:d>
                          <m:d>
                            <m:dPr>
                              <m:ctrlPr>
                                <a:rPr kumimoji="0" lang="ar-AE" altLang="zh-CN" sz="30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zh-CN" altLang="ar-AE" sz="30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zh-CN" altLang="ar-AE" sz="30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kumimoji="0" lang="zh-CN" altLang="ar-AE" sz="30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kumimoji="0" lang="ar-AE" altLang="zh-CN" sz="3000" b="0" i="0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groupChr>
                                <m:groupChrPr>
                                  <m:chr m:val="‾"/>
                                  <m:pos m:val="top"/>
                                  <m:vertJc m:val="bot"/>
                                  <m:ctrlPr>
                                    <a:rPr kumimoji="0" lang="zh-CN" altLang="ar-AE" sz="30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kumimoji="0" lang="zh-CN" altLang="ar-AE" sz="30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</m:groupCh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0" lang="ar-AE" altLang="zh-CN" sz="30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grow m:val="on"/>
                                  <m:subHide m:val="on"/>
                                  <m:supHide m:val="on"/>
                                  <m:ctrlPr>
                                    <a:rPr kumimoji="0" lang="ar-AE" altLang="zh-CN" sz="30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kumimoji="0" lang="ar-AE" altLang="zh-CN" sz="3000" b="0" i="0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nary>
                              <m:d>
                                <m:dPr>
                                  <m:begChr m:val=""/>
                                  <m:endChr m:val=""/>
                                  <m:ctrlPr>
                                    <a:rPr kumimoji="0" lang="ar-AE" altLang="zh-CN" sz="30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ar-AE" altLang="zh-CN" sz="3000" b="0" i="1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kumimoji="0" lang="zh-CN" altLang="ar-AE" sz="3000" b="0" i="1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kumimoji="0" lang="zh-CN" altLang="ar-AE" sz="3000" b="0" i="1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kumimoji="0" lang="zh-CN" altLang="ar-AE" sz="3000" b="0" i="1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kumimoji="0" lang="ar-AE" altLang="zh-CN" sz="3000" b="0" i="0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groupChr>
                                    <m:groupChrPr>
                                      <m:chr m:val="‾"/>
                                      <m:pos m:val="top"/>
                                      <m:vertJc m:val="bot"/>
                                      <m:ctrlPr>
                                        <a:rPr kumimoji="0" lang="ar-AE" altLang="zh-CN" sz="3000" b="0" i="1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kumimoji="0" lang="zh-CN" altLang="ar-AE" sz="3000" b="0" i="1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kumimoji="0" lang="zh-CN" altLang="ar-AE" sz="3000" b="0" i="1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</m:acc>
                                    </m:e>
                                  </m:groupChr>
                                  <m:sSup>
                                    <m:sSupPr>
                                      <m:ctrlPr>
                                        <a:rPr kumimoji="0" lang="ar-AE" altLang="zh-CN" sz="3000" b="0" i="1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"/>
                                          <m:endChr m:val=""/>
                                          <m:ctrlPr>
                                            <a:rPr kumimoji="0" lang="ar-AE" altLang="zh-CN" sz="3000" b="0" i="0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0" lang="ar-AE" altLang="zh-CN" sz="3000" b="0" i="0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kumimoji="0" lang="ar-AE" altLang="zh-CN" sz="3000" b="0" i="0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nary>
                                    <m:naryPr>
                                      <m:chr m:val="∑"/>
                                      <m:grow m:val="on"/>
                                      <m:subHide m:val="on"/>
                                      <m:supHide m:val="on"/>
                                      <m:ctrlPr>
                                        <a:rPr kumimoji="0" lang="ar-AE" altLang="zh-CN" sz="3000" b="0" i="1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r>
                                        <a:rPr kumimoji="0" lang="ar-AE" altLang="zh-CN" sz="3000" b="0" i="0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</m:e>
                                  </m:nary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kumimoji="0" lang="ar-AE" altLang="zh-CN" sz="3000" b="0" i="1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0" lang="zh-CN" altLang="ar-AE" sz="3000" b="0" i="1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zh-CN" altLang="ar-AE" sz="3000" b="0" i="1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  <m:sub>
                                          <m:r>
                                            <a:rPr kumimoji="0" lang="zh-CN" altLang="ar-AE" sz="3000" b="0" i="1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kumimoji="0" lang="ar-AE" altLang="zh-CN" sz="3000" b="0" i="0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groupChr>
                                        <m:groupChrPr>
                                          <m:chr m:val="‾"/>
                                          <m:pos m:val="top"/>
                                          <m:vertJc m:val="bot"/>
                                          <m:ctrlPr>
                                            <a:rPr kumimoji="0" lang="zh-CN" altLang="ar-AE" sz="3000" b="0" i="1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groupChrPr>
                                        <m:e>
                                          <m:r>
                                            <a:rPr kumimoji="0" lang="zh-CN" altLang="ar-AE" sz="3000" b="0" i="1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</m:groupChr>
                                      <m:sSup>
                                        <m:sSupPr>
                                          <m:ctrlPr>
                                            <a:rPr kumimoji="0" lang="ar-AE" altLang="zh-CN" sz="3000" b="0" i="1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"/>
                                              <m:endChr m:val=""/>
                                              <m:ctrlPr>
                                                <a:rPr kumimoji="0" lang="ar-AE" altLang="zh-CN" sz="3000" b="0" i="0" u="none" strike="noStrike" kern="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kumimoji="0" lang="ar-AE" altLang="zh-CN" sz="3000" b="0" i="0" u="none" strike="noStrike" kern="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kumimoji="0" lang="ar-AE" altLang="zh-CN" sz="3000" b="0" i="0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kumimoji="0" lang="ar-AE" altLang="zh-CN" sz="3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lvl="0" algn="just">
                  <a:defRPr/>
                </a:pPr>
                <a:r>
                  <a:rPr lang="ru-RU" altLang="zh-CN" sz="30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Значение </a:t>
                </a:r>
                <a:r>
                  <a:rPr lang="zh-CN" altLang="ru-RU" sz="30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𝑟 </a:t>
                </a:r>
                <a:r>
                  <a:rPr lang="ru-RU" altLang="zh-CN" sz="30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лежит в диапазоне [−1, 1]. Для удобства переводится в проценты сходства:</a:t>
                </a:r>
                <a:endParaRPr kumimoji="0" lang="ru-RU" altLang="zh-CN" sz="3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zh-CN" altLang="ru-RU" sz="3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𝑆</m:t>
                    </m:r>
                    <m:r>
                      <a:rPr kumimoji="0" lang="ru-RU" altLang="zh-CN" sz="3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0" lang="zh-CN" altLang="ar-AE" sz="3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zh-CN" altLang="ar-AE" sz="3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kumimoji="0" lang="ar-AE" altLang="zh-CN" sz="3000" b="0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kumimoji="0" lang="ar-AE" altLang="zh-CN" sz="3000" b="0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0" lang="ar-AE" altLang="zh-CN" sz="3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×100%</m:t>
                    </m:r>
                  </m:oMath>
                </a14:m>
                <a:r>
                  <a:rPr kumimoji="0" lang="ar-AE" altLang="zh-CN" sz="3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kumimoji="0" lang="ru-RU" altLang="zh-CN" sz="3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just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ru-RU" sz="3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𝑆</a:t>
                </a:r>
                <a:r>
                  <a:rPr kumimoji="0" lang="ru-RU" altLang="zh-CN" sz="3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=100% — полная положительная корреляция, 0% — отсутствие корреляции.</a:t>
                </a:r>
              </a:p>
              <a:p>
                <a:pPr marL="0" marR="0" lvl="0" indent="0" algn="just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altLang="zh-CN" sz="32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algn="just"/>
                <a:endPara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CF3B97-3152-2E72-02AB-553608EC0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487" y="875429"/>
                <a:ext cx="11079096" cy="6818533"/>
              </a:xfrm>
              <a:prstGeom prst="rect">
                <a:avLst/>
              </a:prstGeom>
              <a:blipFill>
                <a:blip r:embed="rId5"/>
                <a:stretch>
                  <a:fillRect l="-1321" t="-1163" r="-12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4BE704-F2F4-864D-9D16-F4CDA798B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z="3000" smtClean="0"/>
              <a:t>21</a:t>
            </a:fld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221729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D7521-9B2D-8110-8224-31A9A9FE2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98F16B0-8DF3-3244-7FB6-1E55677609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97" y="1969685"/>
            <a:ext cx="6400204" cy="4083235"/>
          </a:xfrm>
          <a:prstGeom prst="rect">
            <a:avLst/>
          </a:prstGeom>
        </p:spPr>
      </p:pic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FA6F56C7-FEF3-B7FA-B0E3-A8EF2BF8D2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4" imgW="2566457" imgH="894201" progId="CorelDraw.Graphic.22">
                  <p:embed/>
                </p:oleObj>
              </mc:Choice>
              <mc:Fallback>
                <p:oleObj name="CorelDRAW" r:id="rId4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8412EE48-784B-51F3-3037-74F55ECB13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2904BB8-5AB3-1328-84B9-EDB9D8E7F44E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ED3AC6E-D1C8-B231-4143-49ABC1CB43A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10" name="Заголовок 5">
            <a:extLst>
              <a:ext uri="{FF2B5EF4-FFF2-40B4-BE49-F238E27FC236}">
                <a16:creationId xmlns:a16="http://schemas.microsoft.com/office/drawing/2014/main" id="{F3AB8CE1-7899-0C7D-0FF4-2586B88C2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104" y="-202622"/>
            <a:ext cx="10515600" cy="1325563"/>
          </a:xfrm>
        </p:spPr>
        <p:txBody>
          <a:bodyPr/>
          <a:lstStyle/>
          <a:p>
            <a:r>
              <a:rPr lang="ru-RU" altLang="zh-CN" dirty="0">
                <a:cs typeface="Times New Roman" panose="02020603050405020304" pitchFamily="18" charset="0"/>
              </a:rPr>
              <a:t>Инженерная реализация</a:t>
            </a:r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3" name="object 10">
            <a:extLst>
              <a:ext uri="{FF2B5EF4-FFF2-40B4-BE49-F238E27FC236}">
                <a16:creationId xmlns:a16="http://schemas.microsoft.com/office/drawing/2014/main" id="{7FCB305B-25C0-38CF-17EB-F858460C343A}"/>
              </a:ext>
            </a:extLst>
          </p:cNvPr>
          <p:cNvSpPr txBox="1">
            <a:spLocks/>
          </p:cNvSpPr>
          <p:nvPr/>
        </p:nvSpPr>
        <p:spPr>
          <a:xfrm>
            <a:off x="481013" y="1428536"/>
            <a:ext cx="5056188" cy="778845"/>
          </a:xfrm>
          <a:prstGeom prst="rect">
            <a:avLst/>
          </a:prstGeom>
        </p:spPr>
        <p:txBody>
          <a:bodyPr vert="horz" wrap="square" lIns="0" tIns="9313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3387" indent="0" algn="ctr">
              <a:lnSpc>
                <a:spcPts val="3000"/>
              </a:lnSpc>
              <a:spcBef>
                <a:spcPts val="73"/>
              </a:spcBef>
              <a:buNone/>
            </a:pPr>
            <a:r>
              <a:rPr lang="ru-RU" sz="30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Динамическая конвергенция распределения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4B6CBFF5-DAEA-3990-E641-D5D1570D8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z="3000" smtClean="0"/>
              <a:t>22</a:t>
            </a:fld>
            <a:endParaRPr lang="ru-RU" sz="3000"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F480EC06-1A8F-4592-C619-ACF48418209E}"/>
              </a:ext>
            </a:extLst>
          </p:cNvPr>
          <p:cNvSpPr txBox="1">
            <a:spLocks/>
          </p:cNvSpPr>
          <p:nvPr/>
        </p:nvSpPr>
        <p:spPr>
          <a:xfrm>
            <a:off x="2204584" y="5469838"/>
            <a:ext cx="2889929" cy="618930"/>
          </a:xfrm>
          <a:prstGeom prst="rect">
            <a:avLst/>
          </a:prstGeom>
        </p:spPr>
        <p:txBody>
          <a:bodyPr vert="horz" wrap="square" lIns="0" tIns="9313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3387" indent="0" algn="just">
              <a:lnSpc>
                <a:spcPct val="150000"/>
              </a:lnSpc>
              <a:spcBef>
                <a:spcPts val="73"/>
              </a:spcBef>
              <a:buNone/>
            </a:pPr>
            <a:r>
              <a:rPr lang="ru-RU" sz="30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(секунды)</a:t>
            </a:r>
          </a:p>
        </p:txBody>
      </p:sp>
      <p:sp>
        <p:nvSpPr>
          <p:cNvPr id="17" name="object 10">
            <a:extLst>
              <a:ext uri="{FF2B5EF4-FFF2-40B4-BE49-F238E27FC236}">
                <a16:creationId xmlns:a16="http://schemas.microsoft.com/office/drawing/2014/main" id="{D6CD1450-17F6-4F5E-7BC9-8EC6028E1387}"/>
              </a:ext>
            </a:extLst>
          </p:cNvPr>
          <p:cNvSpPr txBox="1">
            <a:spLocks/>
          </p:cNvSpPr>
          <p:nvPr/>
        </p:nvSpPr>
        <p:spPr>
          <a:xfrm rot="16200000">
            <a:off x="-2351772" y="3738152"/>
            <a:ext cx="5056188" cy="394125"/>
          </a:xfrm>
          <a:prstGeom prst="rect">
            <a:avLst/>
          </a:prstGeom>
        </p:spPr>
        <p:txBody>
          <a:bodyPr vert="horz" wrap="square" lIns="0" tIns="9313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3387" indent="0" algn="ctr">
              <a:lnSpc>
                <a:spcPts val="3000"/>
              </a:lnSpc>
              <a:spcBef>
                <a:spcPts val="73"/>
              </a:spcBef>
              <a:buNone/>
            </a:pPr>
            <a:r>
              <a:rPr lang="ru-RU" sz="30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Сходство (%)</a:t>
            </a:r>
          </a:p>
        </p:txBody>
      </p:sp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F22FD813-67C0-321D-7302-CB9499E02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33510"/>
              </p:ext>
            </p:extLst>
          </p:nvPr>
        </p:nvGraphicFramePr>
        <p:xfrm>
          <a:off x="6019801" y="1801614"/>
          <a:ext cx="5895466" cy="4267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35275">
                  <a:extLst>
                    <a:ext uri="{9D8B030D-6E8A-4147-A177-3AD203B41FA5}">
                      <a16:colId xmlns:a16="http://schemas.microsoft.com/office/drawing/2014/main" val="915770434"/>
                    </a:ext>
                  </a:extLst>
                </a:gridCol>
                <a:gridCol w="1441153">
                  <a:extLst>
                    <a:ext uri="{9D8B030D-6E8A-4147-A177-3AD203B41FA5}">
                      <a16:colId xmlns:a16="http://schemas.microsoft.com/office/drawing/2014/main" val="189725528"/>
                    </a:ext>
                  </a:extLst>
                </a:gridCol>
                <a:gridCol w="2024478">
                  <a:extLst>
                    <a:ext uri="{9D8B030D-6E8A-4147-A177-3AD203B41FA5}">
                      <a16:colId xmlns:a16="http://schemas.microsoft.com/office/drawing/2014/main" val="2461472401"/>
                    </a:ext>
                  </a:extLst>
                </a:gridCol>
                <a:gridCol w="1194560">
                  <a:extLst>
                    <a:ext uri="{9D8B030D-6E8A-4147-A177-3AD203B41FA5}">
                      <a16:colId xmlns:a16="http://schemas.microsoft.com/office/drawing/2014/main" val="1295489104"/>
                    </a:ext>
                  </a:extLst>
                </a:gridCol>
              </a:tblGrid>
              <a:tr h="84969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Сходство, %</a:t>
                      </a:r>
                      <a:endParaRPr lang="zh-C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Время (исходный), с</a:t>
                      </a:r>
                      <a:endParaRPr lang="zh-CN" sz="20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Время (оптимизированный), с</a:t>
                      </a:r>
                      <a:endParaRPr lang="zh-CN" sz="20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Прирост, раз</a:t>
                      </a:r>
                      <a:endParaRPr lang="zh-CN" sz="20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/>
                </a:tc>
                <a:extLst>
                  <a:ext uri="{0D108BD9-81ED-4DB2-BD59-A6C34878D82A}">
                    <a16:rowId xmlns:a16="http://schemas.microsoft.com/office/drawing/2014/main" val="3860811751"/>
                  </a:ext>
                </a:extLst>
              </a:tr>
              <a:tr h="25967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zh-CN" sz="20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4,5</a:t>
                      </a:r>
                      <a:endParaRPr lang="zh-CN" sz="20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CN" sz="20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CN" sz="20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extLst>
                  <a:ext uri="{0D108BD9-81ED-4DB2-BD59-A6C34878D82A}">
                    <a16:rowId xmlns:a16="http://schemas.microsoft.com/office/drawing/2014/main" val="1199534100"/>
                  </a:ext>
                </a:extLst>
              </a:tr>
              <a:tr h="25967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zh-CN" sz="20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sz="20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</a:t>
                      </a:r>
                      <a:endParaRPr lang="zh-CN" sz="20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</a:t>
                      </a:r>
                      <a:endParaRPr lang="zh-CN" sz="20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extLst>
                  <a:ext uri="{0D108BD9-81ED-4DB2-BD59-A6C34878D82A}">
                    <a16:rowId xmlns:a16="http://schemas.microsoft.com/office/drawing/2014/main" val="1298245124"/>
                  </a:ext>
                </a:extLst>
              </a:tr>
              <a:tr h="25967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  <a:endParaRPr lang="zh-CN" sz="20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sz="20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0,4</a:t>
                      </a:r>
                      <a:endParaRPr lang="zh-CN" sz="20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85,5</a:t>
                      </a:r>
                      <a:endParaRPr lang="zh-CN" sz="20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extLst>
                  <a:ext uri="{0D108BD9-81ED-4DB2-BD59-A6C34878D82A}">
                    <a16:rowId xmlns:a16="http://schemas.microsoft.com/office/drawing/2014/main" val="138867916"/>
                  </a:ext>
                </a:extLst>
              </a:tr>
              <a:tr h="25967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zh-CN" sz="20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4.5</a:t>
                      </a:r>
                      <a:endParaRPr lang="zh-CN" sz="20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0,5</a:t>
                      </a:r>
                      <a:endParaRPr lang="zh-CN" sz="20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109</a:t>
                      </a:r>
                      <a:endParaRPr lang="zh-CN" sz="20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extLst>
                  <a:ext uri="{0D108BD9-81ED-4DB2-BD59-A6C34878D82A}">
                    <a16:rowId xmlns:a16="http://schemas.microsoft.com/office/drawing/2014/main" val="3346868209"/>
                  </a:ext>
                </a:extLst>
              </a:tr>
              <a:tr h="25967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  <a:endParaRPr lang="zh-CN" sz="20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sz="20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0,7</a:t>
                      </a:r>
                      <a:endParaRPr lang="zh-CN" sz="20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116,4</a:t>
                      </a:r>
                      <a:endParaRPr lang="zh-CN" sz="20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extLst>
                  <a:ext uri="{0D108BD9-81ED-4DB2-BD59-A6C34878D82A}">
                    <a16:rowId xmlns:a16="http://schemas.microsoft.com/office/drawing/2014/main" val="932048776"/>
                  </a:ext>
                </a:extLst>
              </a:tr>
              <a:tr h="25967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zh-CN" sz="20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sz="20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</a:t>
                      </a:r>
                      <a:endParaRPr lang="zh-CN" sz="20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146,9</a:t>
                      </a:r>
                      <a:endParaRPr lang="zh-CN" sz="20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extLst>
                  <a:ext uri="{0D108BD9-81ED-4DB2-BD59-A6C34878D82A}">
                    <a16:rowId xmlns:a16="http://schemas.microsoft.com/office/drawing/2014/main" val="2559837433"/>
                  </a:ext>
                </a:extLst>
              </a:tr>
              <a:tr h="25967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zh-CN" sz="20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sz="20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20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sz="20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extLst>
                  <a:ext uri="{0D108BD9-81ED-4DB2-BD59-A6C34878D82A}">
                    <a16:rowId xmlns:a16="http://schemas.microsoft.com/office/drawing/2014/main" val="60860553"/>
                  </a:ext>
                </a:extLst>
              </a:tr>
              <a:tr h="25967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  <a:endParaRPr lang="zh-CN" sz="20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sz="20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1,3</a:t>
                      </a:r>
                      <a:endParaRPr lang="zh-CN" sz="20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176,3</a:t>
                      </a:r>
                      <a:endParaRPr lang="zh-CN" sz="20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extLst>
                  <a:ext uri="{0D108BD9-81ED-4DB2-BD59-A6C34878D82A}">
                    <a16:rowId xmlns:a16="http://schemas.microsoft.com/office/drawing/2014/main" val="239493100"/>
                  </a:ext>
                </a:extLst>
              </a:tr>
              <a:tr h="25967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sz="20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</a:t>
                      </a: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sz="20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2,3</a:t>
                      </a:r>
                      <a:endParaRPr lang="zh-CN" sz="20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212,4</a:t>
                      </a:r>
                      <a:endParaRPr lang="zh-CN" sz="20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extLst>
                  <a:ext uri="{0D108BD9-81ED-4DB2-BD59-A6C34878D82A}">
                    <a16:rowId xmlns:a16="http://schemas.microsoft.com/office/drawing/2014/main" val="3003790516"/>
                  </a:ext>
                </a:extLst>
              </a:tr>
              <a:tr h="25967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</a:t>
                      </a:r>
                      <a:endParaRPr lang="zh-CN" sz="20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CN" sz="20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2,4</a:t>
                      </a:r>
                      <a:endParaRPr lang="zh-CN" sz="20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CN" sz="20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extLst>
                  <a:ext uri="{0D108BD9-81ED-4DB2-BD59-A6C34878D82A}">
                    <a16:rowId xmlns:a16="http://schemas.microsoft.com/office/drawing/2014/main" val="1539719621"/>
                  </a:ext>
                </a:extLst>
              </a:tr>
              <a:tr h="25967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98,2</a:t>
                      </a:r>
                      <a:endParaRPr lang="zh-CN" sz="20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CN" sz="20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2,8</a:t>
                      </a:r>
                      <a:endParaRPr lang="zh-CN" sz="20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CN" sz="20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150" marR="55150" marT="0" marB="0" anchor="ctr"/>
                </a:tc>
                <a:extLst>
                  <a:ext uri="{0D108BD9-81ED-4DB2-BD59-A6C34878D82A}">
                    <a16:rowId xmlns:a16="http://schemas.microsoft.com/office/drawing/2014/main" val="201766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2855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90A13-6AEE-C4E6-35CF-A4E8D6CC3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B5569006-F9FA-A56D-2173-A64CA72CF0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CD8B8062-4DD7-7E10-2AC1-9D346CD760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6410875-0725-6B86-0DB8-F8363A6AE35E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073DAA0-CCDF-7CB8-B347-C31B0563E55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10" name="Заголовок 5">
            <a:extLst>
              <a:ext uri="{FF2B5EF4-FFF2-40B4-BE49-F238E27FC236}">
                <a16:creationId xmlns:a16="http://schemas.microsoft.com/office/drawing/2014/main" id="{37E65303-CAA6-8908-8A21-786AF46B0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104" y="-202622"/>
            <a:ext cx="10515600" cy="1325563"/>
          </a:xfrm>
        </p:spPr>
        <p:txBody>
          <a:bodyPr>
            <a:normAutofit/>
          </a:bodyPr>
          <a:lstStyle/>
          <a:p>
            <a:r>
              <a:rPr lang="ru-RU" altLang="zh-CN" dirty="0" err="1">
                <a:cs typeface="Times New Roman" panose="02020603050405020304" pitchFamily="18" charset="0"/>
              </a:rPr>
              <a:t>Айтрекинг</a:t>
            </a:r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7CC303A6-97B7-EF87-BEFA-7E73306CD9DF}"/>
              </a:ext>
            </a:extLst>
          </p:cNvPr>
          <p:cNvSpPr txBox="1">
            <a:spLocks/>
          </p:cNvSpPr>
          <p:nvPr/>
        </p:nvSpPr>
        <p:spPr>
          <a:xfrm>
            <a:off x="579366" y="1300832"/>
            <a:ext cx="4545528" cy="1324251"/>
          </a:xfrm>
          <a:prstGeom prst="rect">
            <a:avLst/>
          </a:prstGeom>
        </p:spPr>
        <p:txBody>
          <a:bodyPr vert="horz" wrap="square" lIns="0" tIns="9313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3387" indent="0" algn="just">
              <a:lnSpc>
                <a:spcPct val="150000"/>
              </a:lnSpc>
              <a:spcBef>
                <a:spcPts val="73"/>
              </a:spcBef>
              <a:buNone/>
            </a:pPr>
            <a:r>
              <a:rPr lang="ru-RU" sz="30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Калибровка айтрекера</a:t>
            </a:r>
          </a:p>
          <a:p>
            <a:pPr marL="8467" marR="3387" algn="just">
              <a:lnSpc>
                <a:spcPct val="150000"/>
              </a:lnSpc>
              <a:spcBef>
                <a:spcPts val="73"/>
              </a:spcBef>
            </a:pPr>
            <a:endParaRPr lang="ru-RU" sz="3000" spc="-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5BB981F5-5213-EC19-1D68-3FD478E90683}"/>
              </a:ext>
            </a:extLst>
          </p:cNvPr>
          <p:cNvSpPr txBox="1">
            <a:spLocks/>
          </p:cNvSpPr>
          <p:nvPr/>
        </p:nvSpPr>
        <p:spPr>
          <a:xfrm>
            <a:off x="6361269" y="1300831"/>
            <a:ext cx="4800600" cy="1324251"/>
          </a:xfrm>
          <a:prstGeom prst="rect">
            <a:avLst/>
          </a:prstGeom>
        </p:spPr>
        <p:txBody>
          <a:bodyPr vert="horz" wrap="square" lIns="0" tIns="9313" rIns="0" bIns="0" rtlCol="0">
            <a:spAutoFit/>
          </a:bodyPr>
          <a:lstStyle>
            <a:lvl1pPr marL="0">
              <a:defRPr sz="255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8467" marR="3387" algn="just">
              <a:lnSpc>
                <a:spcPct val="150000"/>
              </a:lnSpc>
              <a:spcBef>
                <a:spcPts val="73"/>
              </a:spcBef>
            </a:pPr>
            <a:r>
              <a:rPr lang="ru-RU" sz="30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Интерфейс айтрекера  </a:t>
            </a:r>
          </a:p>
          <a:p>
            <a:pPr marL="8467" marR="3387" algn="just">
              <a:lnSpc>
                <a:spcPct val="150000"/>
              </a:lnSpc>
              <a:spcBef>
                <a:spcPts val="73"/>
              </a:spcBef>
            </a:pPr>
            <a:endParaRPr lang="ru-RU" sz="3000" spc="-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A1673BA-B528-DB69-A243-E8D5DD9A3A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097" y="2204402"/>
            <a:ext cx="5781903" cy="356370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3673039-5984-1FEC-5400-CB2E8B10DCB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9350" y="2204402"/>
            <a:ext cx="5652135" cy="353187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8B4E041-22CA-B513-ABE1-37FB0A07F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z="3000" smtClean="0"/>
              <a:t>23</a:t>
            </a:fld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42168064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FE921-86E5-03D1-F141-3553B77A6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5D603490-87D9-96B1-E6BC-666FE006BE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B5569006-F9FA-A56D-2173-A64CA72CF0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043B907-98A6-A0EA-8B59-006D1212586C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E6BEE83-60BF-7CB6-5A4A-0323744A5B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10" name="Заголовок 5">
            <a:extLst>
              <a:ext uri="{FF2B5EF4-FFF2-40B4-BE49-F238E27FC236}">
                <a16:creationId xmlns:a16="http://schemas.microsoft.com/office/drawing/2014/main" id="{F16F848B-2306-2DF9-CB7F-08F29107E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104" y="-202622"/>
            <a:ext cx="10515600" cy="1325563"/>
          </a:xfrm>
        </p:spPr>
        <p:txBody>
          <a:bodyPr>
            <a:normAutofit/>
          </a:bodyPr>
          <a:lstStyle/>
          <a:p>
            <a:r>
              <a:rPr lang="ru-RU" altLang="zh-CN" dirty="0" err="1">
                <a:cs typeface="Times New Roman" panose="02020603050405020304" pitchFamily="18" charset="0"/>
              </a:rPr>
              <a:t>Айтрекинг</a:t>
            </a:r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13E6ABD3-CBA6-7AF3-C333-7090D61A4F83}"/>
              </a:ext>
            </a:extLst>
          </p:cNvPr>
          <p:cNvSpPr txBox="1">
            <a:spLocks/>
          </p:cNvSpPr>
          <p:nvPr/>
        </p:nvSpPr>
        <p:spPr>
          <a:xfrm>
            <a:off x="653794" y="1121728"/>
            <a:ext cx="4194654" cy="1324251"/>
          </a:xfrm>
          <a:prstGeom prst="rect">
            <a:avLst/>
          </a:prstGeom>
        </p:spPr>
        <p:txBody>
          <a:bodyPr vert="horz" wrap="square" lIns="0" tIns="9313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3387" indent="0" algn="just">
              <a:lnSpc>
                <a:spcPct val="150000"/>
              </a:lnSpc>
              <a:spcBef>
                <a:spcPts val="73"/>
              </a:spcBef>
              <a:buNone/>
            </a:pPr>
            <a:r>
              <a:rPr lang="ru-RU" sz="30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Координаты взгляда </a:t>
            </a:r>
          </a:p>
          <a:p>
            <a:pPr marL="8467" marR="3387" algn="just">
              <a:lnSpc>
                <a:spcPct val="150000"/>
              </a:lnSpc>
              <a:spcBef>
                <a:spcPts val="73"/>
              </a:spcBef>
            </a:pPr>
            <a:endParaRPr lang="ru-RU" sz="3000" spc="-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7E085700-7077-07A5-7623-1500F4CB7AA8}"/>
              </a:ext>
            </a:extLst>
          </p:cNvPr>
          <p:cNvSpPr txBox="1">
            <a:spLocks/>
          </p:cNvSpPr>
          <p:nvPr/>
        </p:nvSpPr>
        <p:spPr>
          <a:xfrm>
            <a:off x="6354365" y="1279491"/>
            <a:ext cx="5502103" cy="1401195"/>
          </a:xfrm>
          <a:prstGeom prst="rect">
            <a:avLst/>
          </a:prstGeom>
        </p:spPr>
        <p:txBody>
          <a:bodyPr vert="horz" wrap="square" lIns="0" tIns="9313" rIns="0" bIns="0" rtlCol="0">
            <a:spAutoFit/>
          </a:bodyPr>
          <a:lstStyle>
            <a:lvl1pPr marL="0">
              <a:defRPr sz="255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8467" marR="3387" algn="just">
              <a:lnSpc>
                <a:spcPts val="3000"/>
              </a:lnSpc>
              <a:spcBef>
                <a:spcPts val="73"/>
              </a:spcBef>
            </a:pPr>
            <a:r>
              <a:rPr lang="ru-RU" sz="30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Тепловая карта распределения внимания  </a:t>
            </a:r>
          </a:p>
          <a:p>
            <a:pPr marL="8467" marR="3387" algn="just">
              <a:lnSpc>
                <a:spcPct val="150000"/>
              </a:lnSpc>
              <a:spcBef>
                <a:spcPts val="73"/>
              </a:spcBef>
            </a:pPr>
            <a:endParaRPr lang="ru-RU" sz="3000" spc="-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763A7EB-016C-8699-44E3-A2C46B95B7E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15" y="2204402"/>
            <a:ext cx="5652135" cy="3531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5D2E609-BEB1-8CD0-F40F-477F5A00EEB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9350" y="2204216"/>
            <a:ext cx="5652135" cy="353205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270DC72C-31E2-D2F0-C637-EFA9054E6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z="3000" smtClean="0"/>
              <a:t>24</a:t>
            </a:fld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39022412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5C678-9BB7-E6AC-79B1-92F1C55E4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4B71C66-E884-3B8F-B2C1-A98DDDE444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5D603490-87D9-96B1-E6BC-666FE006BE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1AE06A8-8A3B-6565-0E9E-7FE87A7B9734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A51480B-969C-12C0-00F9-89E4E3A825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10" name="Заголовок 5">
            <a:extLst>
              <a:ext uri="{FF2B5EF4-FFF2-40B4-BE49-F238E27FC236}">
                <a16:creationId xmlns:a16="http://schemas.microsoft.com/office/drawing/2014/main" id="{7B307AA9-F484-45B2-BD13-69294F73D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104" y="-202622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>
                <a:cs typeface="Times New Roman" panose="02020603050405020304" pitchFamily="18" charset="0"/>
              </a:rPr>
              <a:t>Датасет</a:t>
            </a:r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8C33B68F-4BFC-7532-676C-3283082A4E72}"/>
              </a:ext>
            </a:extLst>
          </p:cNvPr>
          <p:cNvSpPr txBox="1">
            <a:spLocks/>
          </p:cNvSpPr>
          <p:nvPr/>
        </p:nvSpPr>
        <p:spPr>
          <a:xfrm>
            <a:off x="4501858" y="2300710"/>
            <a:ext cx="3946949" cy="1324251"/>
          </a:xfrm>
          <a:prstGeom prst="rect">
            <a:avLst/>
          </a:prstGeom>
        </p:spPr>
        <p:txBody>
          <a:bodyPr vert="horz" wrap="square" lIns="0" tIns="9313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3387" indent="0" algn="just">
              <a:lnSpc>
                <a:spcPct val="150000"/>
              </a:lnSpc>
              <a:spcBef>
                <a:spcPts val="73"/>
              </a:spcBef>
              <a:buNone/>
            </a:pPr>
            <a:r>
              <a:rPr lang="ru-RU" sz="30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Папка с изображениями  </a:t>
            </a:r>
          </a:p>
          <a:p>
            <a:pPr marL="8467" marR="3387" algn="just">
              <a:lnSpc>
                <a:spcPct val="150000"/>
              </a:lnSpc>
              <a:spcBef>
                <a:spcPts val="73"/>
              </a:spcBef>
            </a:pPr>
            <a:endParaRPr lang="ru-RU" sz="3000" spc="-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46C02731-F208-BA8C-E7BC-98928D9F3E54}"/>
              </a:ext>
            </a:extLst>
          </p:cNvPr>
          <p:cNvSpPr txBox="1">
            <a:spLocks/>
          </p:cNvSpPr>
          <p:nvPr/>
        </p:nvSpPr>
        <p:spPr>
          <a:xfrm>
            <a:off x="2523979" y="4113211"/>
            <a:ext cx="7902703" cy="1148177"/>
          </a:xfrm>
          <a:prstGeom prst="rect">
            <a:avLst/>
          </a:prstGeom>
        </p:spPr>
        <p:txBody>
          <a:bodyPr vert="horz" wrap="square" lIns="0" tIns="9313" rIns="0" bIns="0" rtlCol="0">
            <a:spAutoFit/>
          </a:bodyPr>
          <a:lstStyle>
            <a:lvl1pPr marL="0">
              <a:defRPr sz="255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8467" marR="3387" algn="just">
              <a:lnSpc>
                <a:spcPct val="150000"/>
              </a:lnSpc>
              <a:spcBef>
                <a:spcPts val="73"/>
              </a:spcBef>
            </a:pPr>
            <a:r>
              <a:rPr lang="ru-RU" sz="30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Папка с текстовыми файлами координат взгляда   </a:t>
            </a:r>
          </a:p>
          <a:p>
            <a:pPr marL="8467" marR="3387" algn="just">
              <a:lnSpc>
                <a:spcPct val="150000"/>
              </a:lnSpc>
              <a:spcBef>
                <a:spcPts val="73"/>
              </a:spcBef>
            </a:pPr>
            <a:endParaRPr lang="ru-RU" sz="2133" spc="-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F1648191-DBEA-C4B7-7226-7464D660F6D3}"/>
              </a:ext>
            </a:extLst>
          </p:cNvPr>
          <p:cNvSpPr txBox="1">
            <a:spLocks/>
          </p:cNvSpPr>
          <p:nvPr/>
        </p:nvSpPr>
        <p:spPr>
          <a:xfrm>
            <a:off x="2945320" y="5886304"/>
            <a:ext cx="7060019" cy="1148177"/>
          </a:xfrm>
          <a:prstGeom prst="rect">
            <a:avLst/>
          </a:prstGeom>
        </p:spPr>
        <p:txBody>
          <a:bodyPr vert="horz" wrap="square" lIns="0" tIns="9313" rIns="0" bIns="0" rtlCol="0">
            <a:spAutoFit/>
          </a:bodyPr>
          <a:lstStyle>
            <a:lvl1pPr marL="0">
              <a:defRPr sz="255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8467" marR="3387" algn="just">
              <a:lnSpc>
                <a:spcPct val="150000"/>
              </a:lnSpc>
              <a:spcBef>
                <a:spcPts val="73"/>
              </a:spcBef>
            </a:pPr>
            <a:r>
              <a:rPr lang="ru-RU" sz="30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Папка с сохраненными тепловыми картами   </a:t>
            </a:r>
          </a:p>
          <a:p>
            <a:pPr marL="8467" marR="3387" algn="just">
              <a:lnSpc>
                <a:spcPct val="150000"/>
              </a:lnSpc>
              <a:spcBef>
                <a:spcPts val="73"/>
              </a:spcBef>
            </a:pPr>
            <a:endParaRPr lang="ru-RU" sz="2133" spc="-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F8B42EA-EE7C-53B9-0E6C-F3831535DD1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104" y="1090207"/>
            <a:ext cx="9484459" cy="1424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B290E85-345C-C6B6-1855-B8580BA09A9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9373" y="3002900"/>
            <a:ext cx="9351917" cy="1325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52190D5-0E0E-8119-DB02-9FD975E5FF0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395" y="4775993"/>
            <a:ext cx="9351910" cy="132556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897AF6-2A69-26C8-03B8-4CE16B52F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z="3000" smtClean="0"/>
              <a:t>25</a:t>
            </a:fld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37044908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01674-D933-1202-AFB5-0CA074C5A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3392B983-4770-B36A-6322-577E8895F5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B5569006-F9FA-A56D-2173-A64CA72CF0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73DC59D-B1D9-A522-0244-71E5F4823121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5B65301-8C75-17E6-5063-E0EA48765B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10" name="Заголовок 5">
            <a:extLst>
              <a:ext uri="{FF2B5EF4-FFF2-40B4-BE49-F238E27FC236}">
                <a16:creationId xmlns:a16="http://schemas.microsoft.com/office/drawing/2014/main" id="{74ADE3A5-4CF6-9EC6-E763-C00152566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104" y="-202622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>
                <a:cs typeface="Times New Roman" panose="02020603050405020304" pitchFamily="18" charset="0"/>
              </a:rPr>
              <a:t>Результат работы программы</a:t>
            </a:r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3F29529B-1B51-F3AE-381C-C9A11D95E6AF}"/>
              </a:ext>
            </a:extLst>
          </p:cNvPr>
          <p:cNvSpPr txBox="1">
            <a:spLocks/>
          </p:cNvSpPr>
          <p:nvPr/>
        </p:nvSpPr>
        <p:spPr>
          <a:xfrm>
            <a:off x="653793" y="1300832"/>
            <a:ext cx="4800599" cy="1324251"/>
          </a:xfrm>
          <a:prstGeom prst="rect">
            <a:avLst/>
          </a:prstGeom>
        </p:spPr>
        <p:txBody>
          <a:bodyPr vert="horz" wrap="square" lIns="0" tIns="9313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3387" indent="0" algn="just">
              <a:lnSpc>
                <a:spcPct val="150000"/>
              </a:lnSpc>
              <a:spcBef>
                <a:spcPts val="73"/>
              </a:spcBef>
              <a:buNone/>
            </a:pPr>
            <a:r>
              <a:rPr lang="ru-RU" sz="30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Интерфейс приложения</a:t>
            </a:r>
          </a:p>
          <a:p>
            <a:pPr marL="8467" marR="3387" algn="just">
              <a:lnSpc>
                <a:spcPct val="150000"/>
              </a:lnSpc>
              <a:spcBef>
                <a:spcPts val="73"/>
              </a:spcBef>
            </a:pPr>
            <a:endParaRPr lang="ru-RU" sz="3000" spc="-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0A8D1323-1F49-2C47-A56D-70DA2F0CB812}"/>
              </a:ext>
            </a:extLst>
          </p:cNvPr>
          <p:cNvSpPr txBox="1">
            <a:spLocks/>
          </p:cNvSpPr>
          <p:nvPr/>
        </p:nvSpPr>
        <p:spPr>
          <a:xfrm>
            <a:off x="6406646" y="1300831"/>
            <a:ext cx="4800600" cy="1324251"/>
          </a:xfrm>
          <a:prstGeom prst="rect">
            <a:avLst/>
          </a:prstGeom>
        </p:spPr>
        <p:txBody>
          <a:bodyPr vert="horz" wrap="square" lIns="0" tIns="9313" rIns="0" bIns="0" rtlCol="0">
            <a:spAutoFit/>
          </a:bodyPr>
          <a:lstStyle>
            <a:lvl1pPr marL="0">
              <a:defRPr sz="255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8467" marR="3387" algn="just">
              <a:lnSpc>
                <a:spcPct val="150000"/>
              </a:lnSpc>
              <a:spcBef>
                <a:spcPts val="73"/>
              </a:spcBef>
            </a:pPr>
            <a:r>
              <a:rPr lang="ru-RU" sz="30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Исходное изображение</a:t>
            </a:r>
          </a:p>
          <a:p>
            <a:pPr marL="8467" marR="3387" algn="just">
              <a:lnSpc>
                <a:spcPct val="150000"/>
              </a:lnSpc>
              <a:spcBef>
                <a:spcPts val="73"/>
              </a:spcBef>
            </a:pPr>
            <a:endParaRPr lang="ru-RU" sz="3000" spc="-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B0BC6C1-BC41-8C0C-DFCF-1D57C67E2C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107" y="2082184"/>
            <a:ext cx="5549969" cy="369245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7D1B25A-D3BF-1E28-E65B-9FBAD6D325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3762" y="2082184"/>
            <a:ext cx="5786413" cy="313732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6652FF8-2755-A62C-AA5F-F0C7D5F23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z="3000" smtClean="0"/>
              <a:t>26</a:t>
            </a:fld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32427017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94EF4-3AB9-3A21-7D5D-A63107E54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6F6DF1D9-7291-D563-120E-52FEB6BD4D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B5569006-F9FA-A56D-2173-A64CA72CF0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7BDC079-A6D7-C3B5-AD7D-CAE10EF1130D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F9DA6A7-0AC0-D511-98D1-5A0F5583C18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10" name="Заголовок 5">
            <a:extLst>
              <a:ext uri="{FF2B5EF4-FFF2-40B4-BE49-F238E27FC236}">
                <a16:creationId xmlns:a16="http://schemas.microsoft.com/office/drawing/2014/main" id="{20A93CE7-7DB4-73F7-195B-CE1390CCC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104" y="-202622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>
                <a:cs typeface="Times New Roman" panose="02020603050405020304" pitchFamily="18" charset="0"/>
              </a:rPr>
              <a:t>Результат работы программы</a:t>
            </a:r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9D1653A8-1F72-C752-46D1-CC7CD936641A}"/>
              </a:ext>
            </a:extLst>
          </p:cNvPr>
          <p:cNvSpPr txBox="1">
            <a:spLocks/>
          </p:cNvSpPr>
          <p:nvPr/>
        </p:nvSpPr>
        <p:spPr>
          <a:xfrm>
            <a:off x="401319" y="1339273"/>
            <a:ext cx="5130801" cy="1324251"/>
          </a:xfrm>
          <a:prstGeom prst="rect">
            <a:avLst/>
          </a:prstGeom>
        </p:spPr>
        <p:txBody>
          <a:bodyPr vert="horz" wrap="square" lIns="0" tIns="9313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3387" indent="0" algn="just">
              <a:lnSpc>
                <a:spcPct val="150000"/>
              </a:lnSpc>
              <a:spcBef>
                <a:spcPts val="73"/>
              </a:spcBef>
              <a:buNone/>
            </a:pPr>
            <a:r>
              <a:rPr lang="ru-RU" sz="30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Эталонное распределение</a:t>
            </a:r>
          </a:p>
          <a:p>
            <a:pPr marL="8467" marR="3387" algn="just">
              <a:lnSpc>
                <a:spcPct val="150000"/>
              </a:lnSpc>
              <a:spcBef>
                <a:spcPts val="73"/>
              </a:spcBef>
            </a:pPr>
            <a:endParaRPr lang="ru-RU" sz="3000" spc="-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2CD05398-B5B2-C430-262A-B2F95BB5120F}"/>
              </a:ext>
            </a:extLst>
          </p:cNvPr>
          <p:cNvSpPr txBox="1">
            <a:spLocks/>
          </p:cNvSpPr>
          <p:nvPr/>
        </p:nvSpPr>
        <p:spPr>
          <a:xfrm>
            <a:off x="6198062" y="1339273"/>
            <a:ext cx="5466542" cy="1148177"/>
          </a:xfrm>
          <a:prstGeom prst="rect">
            <a:avLst/>
          </a:prstGeom>
        </p:spPr>
        <p:txBody>
          <a:bodyPr vert="horz" wrap="square" lIns="0" tIns="9313" rIns="0" bIns="0" rtlCol="0">
            <a:spAutoFit/>
          </a:bodyPr>
          <a:lstStyle>
            <a:lvl1pPr marL="0">
              <a:defRPr sz="255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8467" marR="3387" algn="just">
              <a:lnSpc>
                <a:spcPct val="150000"/>
              </a:lnSpc>
              <a:spcBef>
                <a:spcPts val="73"/>
              </a:spcBef>
            </a:pPr>
            <a:r>
              <a:rPr lang="ru-RU" sz="30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Динамическое распределение</a:t>
            </a:r>
          </a:p>
          <a:p>
            <a:pPr marL="8467" marR="3387" algn="just">
              <a:lnSpc>
                <a:spcPct val="150000"/>
              </a:lnSpc>
              <a:spcBef>
                <a:spcPts val="73"/>
              </a:spcBef>
            </a:pPr>
            <a:endParaRPr lang="ru-RU" sz="2133" spc="-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8C7102A-9142-A433-8F7C-D36EFF366B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058" y="2114498"/>
            <a:ext cx="5788660" cy="330263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FB21C78-8691-38AA-36FD-9FF55EB880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8062" y="2124658"/>
            <a:ext cx="5770880" cy="3292475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4D0631-8CDB-54A5-906C-0BF2D5960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z="3000" smtClean="0"/>
              <a:t>27</a:t>
            </a:fld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2579023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8EEA9-CF7A-A666-125C-344ECF6BA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8C03D4EE-4EC5-67CB-AE0E-07EC1AF6B1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B5569006-F9FA-A56D-2173-A64CA72CF0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9388568-08FA-477C-20F9-5B49C12B5DB0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17C7AD1-C558-39CB-7E16-17E1C72520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10" name="Заголовок 5">
            <a:extLst>
              <a:ext uri="{FF2B5EF4-FFF2-40B4-BE49-F238E27FC236}">
                <a16:creationId xmlns:a16="http://schemas.microsoft.com/office/drawing/2014/main" id="{B11B99DB-CE68-61C3-AED3-BCE4D113B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104" y="-202622"/>
            <a:ext cx="10515600" cy="1325563"/>
          </a:xfrm>
        </p:spPr>
        <p:txBody>
          <a:bodyPr/>
          <a:lstStyle/>
          <a:p>
            <a:r>
              <a:rPr lang="ru-RU" altLang="zh-CN" dirty="0">
                <a:cs typeface="Times New Roman" panose="02020603050405020304" pitchFamily="18" charset="0"/>
              </a:rPr>
              <a:t>Результат работы программы</a:t>
            </a:r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B08FD855-5BCB-C529-896E-8B188C5C2044}"/>
              </a:ext>
            </a:extLst>
          </p:cNvPr>
          <p:cNvSpPr txBox="1">
            <a:spLocks/>
          </p:cNvSpPr>
          <p:nvPr/>
        </p:nvSpPr>
        <p:spPr>
          <a:xfrm>
            <a:off x="526901" y="1433529"/>
            <a:ext cx="4651153" cy="2722070"/>
          </a:xfrm>
          <a:prstGeom prst="rect">
            <a:avLst/>
          </a:prstGeom>
        </p:spPr>
        <p:txBody>
          <a:bodyPr vert="horz" wrap="square" lIns="0" tIns="9313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3387" indent="0" algn="just">
              <a:lnSpc>
                <a:spcPct val="150000"/>
              </a:lnSpc>
              <a:spcBef>
                <a:spcPts val="73"/>
              </a:spcBef>
              <a:buNone/>
            </a:pPr>
            <a:r>
              <a:rPr lang="ru-RU" sz="30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</a:t>
            </a:r>
            <a:r>
              <a:rPr lang="ru-RU" altLang="zh-CN" sz="30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Тепловая карта области </a:t>
            </a:r>
            <a:r>
              <a:rPr lang="ru-RU" altLang="zh-CN" sz="3000" spc="-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внимнаия</a:t>
            </a:r>
            <a:endParaRPr lang="ru-RU" altLang="zh-CN" sz="3000" spc="-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467" marR="3387" algn="just">
              <a:lnSpc>
                <a:spcPct val="150000"/>
              </a:lnSpc>
              <a:spcBef>
                <a:spcPts val="73"/>
              </a:spcBef>
            </a:pPr>
            <a:endParaRPr lang="ru-RU" sz="3000" spc="-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467" marR="3387" algn="just">
              <a:lnSpc>
                <a:spcPct val="150000"/>
              </a:lnSpc>
              <a:spcBef>
                <a:spcPts val="73"/>
              </a:spcBef>
            </a:pPr>
            <a:endParaRPr lang="ru-RU" sz="3000" spc="-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8098FBD4-C5CF-247B-88AA-7B42866682CD}"/>
              </a:ext>
            </a:extLst>
          </p:cNvPr>
          <p:cNvSpPr txBox="1">
            <a:spLocks/>
          </p:cNvSpPr>
          <p:nvPr/>
        </p:nvSpPr>
        <p:spPr>
          <a:xfrm>
            <a:off x="6279350" y="1375668"/>
            <a:ext cx="4800600" cy="618930"/>
          </a:xfrm>
          <a:prstGeom prst="rect">
            <a:avLst/>
          </a:prstGeom>
        </p:spPr>
        <p:txBody>
          <a:bodyPr vert="horz" wrap="square" lIns="0" tIns="9313" rIns="0" bIns="0" rtlCol="0">
            <a:spAutoFit/>
          </a:bodyPr>
          <a:lstStyle>
            <a:lvl1pPr marL="0">
              <a:defRPr sz="255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8467" marR="3387" algn="just">
              <a:lnSpc>
                <a:spcPct val="150000"/>
              </a:lnSpc>
              <a:spcBef>
                <a:spcPts val="73"/>
              </a:spcBef>
            </a:pPr>
            <a:r>
              <a:rPr lang="ru-RU" sz="30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6) Визуализация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A42CED1-C956-EB70-1E83-217E6C0A25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945" y="2239059"/>
            <a:ext cx="5106849" cy="309157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BB2A4A2-90AD-FF68-DFC7-5A00218570B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9350" y="2239059"/>
            <a:ext cx="5705537" cy="309157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4AE3BF8E-BE09-28A1-2913-BCAF8CB3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z="3000" smtClean="0"/>
              <a:t>28</a:t>
            </a:fld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22627545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00804-234E-0554-7997-7BFEACCD2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8412EE48-784B-51F3-3037-74F55ECB13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B5569006-F9FA-A56D-2173-A64CA72CF0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A8C8216-123D-BCA8-2BE5-12AE92CE5521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F9255EC-C91D-DC00-98DA-67E25B6FCE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10" name="Заголовок 5">
            <a:extLst>
              <a:ext uri="{FF2B5EF4-FFF2-40B4-BE49-F238E27FC236}">
                <a16:creationId xmlns:a16="http://schemas.microsoft.com/office/drawing/2014/main" id="{17421BD4-BBB1-7756-958D-4C1F63F5E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104" y="-202622"/>
            <a:ext cx="10515600" cy="1325563"/>
          </a:xfrm>
        </p:spPr>
        <p:txBody>
          <a:bodyPr/>
          <a:lstStyle/>
          <a:p>
            <a:r>
              <a:rPr lang="ru-RU" altLang="zh-CN" dirty="0">
                <a:cs typeface="Times New Roman" panose="02020603050405020304" pitchFamily="18" charset="0"/>
              </a:rPr>
              <a:t>Результат работы программы</a:t>
            </a:r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42AE503-E196-787C-6B17-A04DCC8ED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z="3000" smtClean="0"/>
              <a:t>29</a:t>
            </a:fld>
            <a:endParaRPr lang="ru-RU" sz="3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FF92806-93D0-486C-33D2-B768D6722B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651" y="953400"/>
            <a:ext cx="9498698" cy="535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2786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2E183-D18B-50E6-6E67-342C59C4C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E86B17DF-1CAC-202B-1F39-0197A1C07E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8412EE48-784B-51F3-3037-74F55ECB13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0564757-60D2-D896-5617-B55BB4297B38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22C585B-D7CD-2D26-8914-0126791D6A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10" name="Заголовок 5">
            <a:extLst>
              <a:ext uri="{FF2B5EF4-FFF2-40B4-BE49-F238E27FC236}">
                <a16:creationId xmlns:a16="http://schemas.microsoft.com/office/drawing/2014/main" id="{44AC089E-1DBC-46CB-F24F-1F1EE2D8B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104" y="-202622"/>
            <a:ext cx="10515600" cy="1325563"/>
          </a:xfrm>
        </p:spPr>
        <p:txBody>
          <a:bodyPr/>
          <a:lstStyle/>
          <a:p>
            <a:r>
              <a:rPr lang="ru-RU" altLang="zh-CN" dirty="0">
                <a:cs typeface="Times New Roman" panose="02020603050405020304" pitchFamily="18" charset="0"/>
              </a:rPr>
              <a:t>Результат работы программы</a:t>
            </a:r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FE809B-ADDA-D378-8DF3-82FFB262F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z="3000" smtClean="0"/>
              <a:t>30</a:t>
            </a:fld>
            <a:endParaRPr lang="ru-RU" sz="3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E842F6-A166-469B-0405-2AE8AB14CE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8412" y="1026071"/>
            <a:ext cx="9395176" cy="529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6314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0D088-15A3-9EF9-3387-6DAFF60F0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9C14F2F8-B263-FDAE-5E0B-9728A48264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3BE61A43-01F6-5D16-7797-87B9C39F0D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56F268D-57F0-177E-33BD-56D7ADF0A96F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1B4C4C2-027E-77B0-0C60-C68EA9925B5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D3CEB135-65E4-D10B-2DF4-05B38544D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6156"/>
            <a:ext cx="11506200" cy="804275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Выполненные задачи: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проведён литературно-аналитический обзор;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исследованы </a:t>
            </a:r>
            <a:r>
              <a:rPr lang="ru-RU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агентные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методы восстановления изображения и методы построения карты областей интереса;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разработано программное обеспечение;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выполнена оптимизация работы программы.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Вклад/Новизна: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контекстный анализ;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снижены вычислительные затраты.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Заголовок 5">
            <a:extLst>
              <a:ext uri="{FF2B5EF4-FFF2-40B4-BE49-F238E27FC236}">
                <a16:creationId xmlns:a16="http://schemas.microsoft.com/office/drawing/2014/main" id="{5C01E8F2-8E5F-8BAC-728B-C40CF1F55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104" y="-202622"/>
            <a:ext cx="10515600" cy="1325563"/>
          </a:xfrm>
        </p:spPr>
        <p:txBody>
          <a:bodyPr/>
          <a:lstStyle/>
          <a:p>
            <a:r>
              <a:rPr lang="ru-RU" dirty="0"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7ECDE89-845C-2A0D-4BAA-DBEA159E3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z="3000" smtClean="0"/>
              <a:t>31</a:t>
            </a:fld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23138691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0E8AB-E28B-7DDD-C301-2E60CA6F5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E71C155-2AFD-710D-CAC2-FB9627A785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369A8853-7A71-89A2-FF5D-1CDC79C3C4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19A0885-1DA9-5C60-9D01-6B2442B14360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0C70C9C-6881-728D-B88D-7FF8274B00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002E66B-7647-D6EB-87FF-F8F6B95987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2937"/>
            <a:ext cx="9144000" cy="2387600"/>
          </a:xfrm>
        </p:spPr>
        <p:txBody>
          <a:bodyPr/>
          <a:lstStyle/>
          <a:p>
            <a:r>
              <a:rPr lang="ru-RU" dirty="0"/>
              <a:t>Благодарю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4243501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7157</TotalTime>
  <Words>1474</Words>
  <Application>Microsoft Office PowerPoint</Application>
  <PresentationFormat>Широкоэкранный</PresentationFormat>
  <Paragraphs>224</Paragraphs>
  <Slides>32</Slides>
  <Notes>3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40" baseType="lpstr">
      <vt:lpstr>等线</vt:lpstr>
      <vt:lpstr>Arial</vt:lpstr>
      <vt:lpstr>Calibri</vt:lpstr>
      <vt:lpstr>Calibri Light</vt:lpstr>
      <vt:lpstr>Cambria Math</vt:lpstr>
      <vt:lpstr>Times New Roman</vt:lpstr>
      <vt:lpstr>Office Theme</vt:lpstr>
      <vt:lpstr>CorelDRAW</vt:lpstr>
      <vt:lpstr>Презентация PowerPoint</vt:lpstr>
      <vt:lpstr>Актуальность и проблематика</vt:lpstr>
      <vt:lpstr>Цель и задачи</vt:lpstr>
      <vt:lpstr>Научная новизна</vt:lpstr>
      <vt:lpstr>Основные этапы </vt:lpstr>
      <vt:lpstr>Критерии оценивания аналогов</vt:lpstr>
      <vt:lpstr>Критерии оценивания аналогов</vt:lpstr>
      <vt:lpstr>Критерии оценивания аналогов</vt:lpstr>
      <vt:lpstr>Системно-структурная модель</vt:lpstr>
      <vt:lpstr>Системно-структурная модель</vt:lpstr>
      <vt:lpstr>Системно-структурная модель</vt:lpstr>
      <vt:lpstr>Системно-структурная модель</vt:lpstr>
      <vt:lpstr>Математическая модель</vt:lpstr>
      <vt:lpstr>Математическая модель</vt:lpstr>
      <vt:lpstr>Агентный алгоритм И.В. Кашина</vt:lpstr>
      <vt:lpstr>Агентный алгоритм И.В. Кашина </vt:lpstr>
      <vt:lpstr>Презентация PowerPoint</vt:lpstr>
      <vt:lpstr>Презентация PowerPoint</vt:lpstr>
      <vt:lpstr>Инженерная реализация</vt:lpstr>
      <vt:lpstr>Инженерная реализация</vt:lpstr>
      <vt:lpstr>Коэффициент корреляции Пирсона</vt:lpstr>
      <vt:lpstr>Инженерная реализация</vt:lpstr>
      <vt:lpstr>Айтрекинг</vt:lpstr>
      <vt:lpstr>Айтрекинг</vt:lpstr>
      <vt:lpstr>Датасет</vt:lpstr>
      <vt:lpstr>Результат работы программы</vt:lpstr>
      <vt:lpstr>Результат работы программы</vt:lpstr>
      <vt:lpstr>Результат работы программы</vt:lpstr>
      <vt:lpstr>Результат работы программы</vt:lpstr>
      <vt:lpstr>Результат работы программы</vt:lpstr>
      <vt:lpstr>Заключение</vt:lpstr>
      <vt:lpstr>Благодарю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Design</dc:creator>
  <cp:lastModifiedBy>Максим Ветров</cp:lastModifiedBy>
  <cp:revision>343</cp:revision>
  <dcterms:created xsi:type="dcterms:W3CDTF">2019-05-31T06:38:44Z</dcterms:created>
  <dcterms:modified xsi:type="dcterms:W3CDTF">2026-08-26T18:15:15Z</dcterms:modified>
</cp:coreProperties>
</file>